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Barlow Bold" charset="1" panose="00000800000000000000"/>
      <p:regular r:id="rId20"/>
    </p:embeddedFont>
    <p:embeddedFont>
      <p:font typeface="Barlow" charset="1" panose="00000500000000000000"/>
      <p:regular r:id="rId21"/>
    </p:embeddedFont>
    <p:embeddedFont>
      <p:font typeface="Barlow Semi-Bold" charset="1" panose="000007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https://data.cms.gov/provider-summary-by-type-of-service/medicare-part-d-prescribers/monthly-prescription-drug-plan-formulary-and-pharmacy-network-information" TargetMode="External" Type="http://schemas.openxmlformats.org/officeDocument/2006/relationships/hyperlink"/><Relationship Id="rId3" Target="https://github.com/dariusk/corpora/blob/master/data/medicine/drugs.json" TargetMode="External" Type="http://schemas.openxmlformats.org/officeDocument/2006/relationships/hyperlink"/><Relationship Id="rId4" Target="https://rxnav.nlm.nih.gov/REST/drugs.json?name=Metformin" TargetMode="External" Type="http://schemas.openxmlformats.org/officeDocument/2006/relationships/hyperlink"/><Relationship Id="rId5" Target="https://rxnav.nlm.nih.gov/REST/rxcui/1592748.json"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823398" y="1755438"/>
            <a:ext cx="2916585" cy="805702"/>
          </a:xfrm>
          <a:prstGeom prst="rect">
            <a:avLst/>
          </a:prstGeom>
        </p:spPr>
        <p:txBody>
          <a:bodyPr anchor="t" rtlCol="false" tIns="0" lIns="0" bIns="0" rIns="0">
            <a:spAutoFit/>
          </a:bodyPr>
          <a:lstStyle/>
          <a:p>
            <a:pPr algn="l">
              <a:lnSpc>
                <a:spcPts val="6007"/>
              </a:lnSpc>
            </a:pPr>
            <a:r>
              <a:rPr lang="en-US" b="true" sz="5793">
                <a:solidFill>
                  <a:srgbClr val="6C9286"/>
                </a:solidFill>
                <a:latin typeface="Barlow Bold"/>
                <a:ea typeface="Barlow Bold"/>
                <a:cs typeface="Barlow Bold"/>
                <a:sym typeface="Barlow Bold"/>
              </a:rPr>
              <a:t>RxAssist</a:t>
            </a:r>
          </a:p>
        </p:txBody>
      </p:sp>
      <p:sp>
        <p:nvSpPr>
          <p:cNvPr name="TextBox 3" id="3"/>
          <p:cNvSpPr txBox="true"/>
          <p:nvPr/>
        </p:nvSpPr>
        <p:spPr>
          <a:xfrm rot="0">
            <a:off x="947890" y="4135869"/>
            <a:ext cx="9534230" cy="1228725"/>
          </a:xfrm>
          <a:prstGeom prst="rect">
            <a:avLst/>
          </a:prstGeom>
        </p:spPr>
        <p:txBody>
          <a:bodyPr anchor="t" rtlCol="false" tIns="0" lIns="0" bIns="0" rIns="0">
            <a:spAutoFit/>
          </a:bodyPr>
          <a:lstStyle/>
          <a:p>
            <a:pPr algn="l">
              <a:lnSpc>
                <a:spcPts val="3374"/>
              </a:lnSpc>
            </a:pPr>
            <a:r>
              <a:rPr lang="en-US" sz="2124" spc="8">
                <a:solidFill>
                  <a:srgbClr val="1D4355"/>
                </a:solidFill>
                <a:latin typeface="Barlow"/>
                <a:ea typeface="Barlow"/>
                <a:cs typeface="Barlow"/>
                <a:sym typeface="Barlow"/>
              </a:rPr>
              <a:t>Unified platform combining formulary data, patient records, and AI to streamline coverage review and prior authorizations, so patients get the medications they need without delays or surprises.</a:t>
            </a:r>
          </a:p>
        </p:txBody>
      </p:sp>
      <p:grpSp>
        <p:nvGrpSpPr>
          <p:cNvPr name="Group 4" id="4"/>
          <p:cNvGrpSpPr/>
          <p:nvPr/>
        </p:nvGrpSpPr>
        <p:grpSpPr>
          <a:xfrm rot="0">
            <a:off x="947890" y="6339926"/>
            <a:ext cx="2053676" cy="508845"/>
            <a:chOff x="0" y="0"/>
            <a:chExt cx="2738234" cy="678459"/>
          </a:xfrm>
        </p:grpSpPr>
        <p:sp>
          <p:nvSpPr>
            <p:cNvPr name="Freeform 5" id="5"/>
            <p:cNvSpPr/>
            <p:nvPr/>
          </p:nvSpPr>
          <p:spPr>
            <a:xfrm flipH="false" flipV="false" rot="0">
              <a:off x="0" y="0"/>
              <a:ext cx="2738120" cy="678434"/>
            </a:xfrm>
            <a:custGeom>
              <a:avLst/>
              <a:gdLst/>
              <a:ahLst/>
              <a:cxnLst/>
              <a:rect r="r" b="b" t="t" l="l"/>
              <a:pathLst>
                <a:path h="678434" w="2738120">
                  <a:moveTo>
                    <a:pt x="0" y="121285"/>
                  </a:moveTo>
                  <a:cubicBezTo>
                    <a:pt x="0" y="54356"/>
                    <a:pt x="54356" y="0"/>
                    <a:pt x="121285" y="0"/>
                  </a:cubicBezTo>
                  <a:lnTo>
                    <a:pt x="2616835" y="0"/>
                  </a:lnTo>
                  <a:cubicBezTo>
                    <a:pt x="2683891" y="0"/>
                    <a:pt x="2738120" y="54356"/>
                    <a:pt x="2738120" y="121285"/>
                  </a:cubicBezTo>
                  <a:lnTo>
                    <a:pt x="2738120" y="557149"/>
                  </a:lnTo>
                  <a:cubicBezTo>
                    <a:pt x="2738120" y="624205"/>
                    <a:pt x="2683764" y="678434"/>
                    <a:pt x="2616835" y="678434"/>
                  </a:cubicBezTo>
                  <a:lnTo>
                    <a:pt x="121285" y="678434"/>
                  </a:lnTo>
                  <a:cubicBezTo>
                    <a:pt x="54356" y="678434"/>
                    <a:pt x="0" y="624078"/>
                    <a:pt x="0" y="557149"/>
                  </a:cubicBezTo>
                  <a:close/>
                </a:path>
              </a:pathLst>
            </a:custGeom>
            <a:solidFill>
              <a:srgbClr val="41C1BA"/>
            </a:solidFill>
          </p:spPr>
        </p:sp>
      </p:grpSp>
      <p:sp>
        <p:nvSpPr>
          <p:cNvPr name="TextBox 6" id="6"/>
          <p:cNvSpPr txBox="true"/>
          <p:nvPr/>
        </p:nvSpPr>
        <p:spPr>
          <a:xfrm rot="0">
            <a:off x="1110253" y="6354366"/>
            <a:ext cx="1728940" cy="315913"/>
          </a:xfrm>
          <a:prstGeom prst="rect">
            <a:avLst/>
          </a:prstGeom>
        </p:spPr>
        <p:txBody>
          <a:bodyPr anchor="t" rtlCol="false" tIns="0" lIns="0" bIns="0" rIns="0">
            <a:spAutoFit/>
          </a:bodyPr>
          <a:lstStyle/>
          <a:p>
            <a:pPr algn="l">
              <a:lnSpc>
                <a:spcPts val="2687"/>
              </a:lnSpc>
            </a:pPr>
            <a:r>
              <a:rPr lang="en-US" sz="1687" spc="6">
                <a:solidFill>
                  <a:srgbClr val="1D4355"/>
                </a:solidFill>
                <a:latin typeface="Barlow"/>
                <a:ea typeface="Barlow"/>
                <a:cs typeface="Barlow"/>
                <a:sym typeface="Barlow"/>
              </a:rPr>
              <a:t>HEALTHCARE IT</a:t>
            </a:r>
          </a:p>
        </p:txBody>
      </p:sp>
      <p:grpSp>
        <p:nvGrpSpPr>
          <p:cNvPr name="Group 7" id="7"/>
          <p:cNvGrpSpPr/>
          <p:nvPr/>
        </p:nvGrpSpPr>
        <p:grpSpPr>
          <a:xfrm rot="0">
            <a:off x="3132087" y="6325638"/>
            <a:ext cx="2982963" cy="537420"/>
            <a:chOff x="0" y="0"/>
            <a:chExt cx="3977284" cy="716559"/>
          </a:xfrm>
        </p:grpSpPr>
        <p:sp>
          <p:nvSpPr>
            <p:cNvPr name="Freeform 8" id="8"/>
            <p:cNvSpPr/>
            <p:nvPr/>
          </p:nvSpPr>
          <p:spPr>
            <a:xfrm flipH="false" flipV="false" rot="0">
              <a:off x="0" y="0"/>
              <a:ext cx="3977259" cy="716534"/>
            </a:xfrm>
            <a:custGeom>
              <a:avLst/>
              <a:gdLst/>
              <a:ahLst/>
              <a:cxnLst/>
              <a:rect r="r" b="b" t="t" l="l"/>
              <a:pathLst>
                <a:path h="716534" w="3977259">
                  <a:moveTo>
                    <a:pt x="0" y="127635"/>
                  </a:moveTo>
                  <a:cubicBezTo>
                    <a:pt x="0" y="57023"/>
                    <a:pt x="58039" y="0"/>
                    <a:pt x="129413" y="0"/>
                  </a:cubicBezTo>
                  <a:lnTo>
                    <a:pt x="3847846" y="0"/>
                  </a:lnTo>
                  <a:lnTo>
                    <a:pt x="3847846" y="6350"/>
                  </a:lnTo>
                  <a:lnTo>
                    <a:pt x="3847846" y="0"/>
                  </a:lnTo>
                  <a:cubicBezTo>
                    <a:pt x="3919220" y="0"/>
                    <a:pt x="3977259" y="57023"/>
                    <a:pt x="3977259" y="127635"/>
                  </a:cubicBezTo>
                  <a:lnTo>
                    <a:pt x="3970909" y="127635"/>
                  </a:lnTo>
                  <a:lnTo>
                    <a:pt x="3977259" y="127635"/>
                  </a:lnTo>
                  <a:lnTo>
                    <a:pt x="3977259" y="588899"/>
                  </a:lnTo>
                  <a:lnTo>
                    <a:pt x="3970909" y="588899"/>
                  </a:lnTo>
                  <a:lnTo>
                    <a:pt x="3977259" y="588899"/>
                  </a:lnTo>
                  <a:cubicBezTo>
                    <a:pt x="3977259" y="659511"/>
                    <a:pt x="3919220" y="716534"/>
                    <a:pt x="3847846" y="716534"/>
                  </a:cubicBezTo>
                  <a:lnTo>
                    <a:pt x="3847846" y="710184"/>
                  </a:lnTo>
                  <a:lnTo>
                    <a:pt x="3847846" y="716534"/>
                  </a:lnTo>
                  <a:lnTo>
                    <a:pt x="129413" y="716534"/>
                  </a:lnTo>
                  <a:lnTo>
                    <a:pt x="129413" y="710184"/>
                  </a:lnTo>
                  <a:lnTo>
                    <a:pt x="129413" y="716534"/>
                  </a:lnTo>
                  <a:cubicBezTo>
                    <a:pt x="58039" y="716534"/>
                    <a:pt x="0" y="659511"/>
                    <a:pt x="0" y="588899"/>
                  </a:cubicBezTo>
                  <a:lnTo>
                    <a:pt x="0" y="127635"/>
                  </a:lnTo>
                  <a:lnTo>
                    <a:pt x="6350" y="127635"/>
                  </a:lnTo>
                  <a:lnTo>
                    <a:pt x="0" y="127635"/>
                  </a:lnTo>
                  <a:moveTo>
                    <a:pt x="12700" y="127635"/>
                  </a:moveTo>
                  <a:lnTo>
                    <a:pt x="12700" y="588899"/>
                  </a:lnTo>
                  <a:lnTo>
                    <a:pt x="6350" y="588899"/>
                  </a:lnTo>
                  <a:lnTo>
                    <a:pt x="12700" y="588899"/>
                  </a:lnTo>
                  <a:cubicBezTo>
                    <a:pt x="12700" y="652272"/>
                    <a:pt x="64897" y="703834"/>
                    <a:pt x="129413" y="703834"/>
                  </a:cubicBezTo>
                  <a:lnTo>
                    <a:pt x="3847846" y="703834"/>
                  </a:lnTo>
                  <a:cubicBezTo>
                    <a:pt x="3912489" y="703834"/>
                    <a:pt x="3964559" y="652272"/>
                    <a:pt x="3964559" y="588899"/>
                  </a:cubicBezTo>
                  <a:lnTo>
                    <a:pt x="3964559" y="127635"/>
                  </a:lnTo>
                  <a:cubicBezTo>
                    <a:pt x="3964559" y="64262"/>
                    <a:pt x="3912362" y="12700"/>
                    <a:pt x="3847846" y="12700"/>
                  </a:cubicBezTo>
                  <a:lnTo>
                    <a:pt x="129413" y="12700"/>
                  </a:lnTo>
                  <a:lnTo>
                    <a:pt x="129413" y="6350"/>
                  </a:lnTo>
                  <a:lnTo>
                    <a:pt x="129413" y="12700"/>
                  </a:lnTo>
                  <a:cubicBezTo>
                    <a:pt x="64897" y="12700"/>
                    <a:pt x="12700" y="64262"/>
                    <a:pt x="12700" y="127635"/>
                  </a:cubicBezTo>
                  <a:close/>
                </a:path>
              </a:pathLst>
            </a:custGeom>
            <a:solidFill>
              <a:srgbClr val="365B6D"/>
            </a:solidFill>
          </p:spPr>
        </p:sp>
      </p:grpSp>
      <p:sp>
        <p:nvSpPr>
          <p:cNvPr name="TextBox 9" id="9"/>
          <p:cNvSpPr txBox="true"/>
          <p:nvPr/>
        </p:nvSpPr>
        <p:spPr>
          <a:xfrm rot="0">
            <a:off x="3308747" y="6354366"/>
            <a:ext cx="2629643" cy="315913"/>
          </a:xfrm>
          <a:prstGeom prst="rect">
            <a:avLst/>
          </a:prstGeom>
        </p:spPr>
        <p:txBody>
          <a:bodyPr anchor="t" rtlCol="false" tIns="0" lIns="0" bIns="0" rIns="0">
            <a:spAutoFit/>
          </a:bodyPr>
          <a:lstStyle/>
          <a:p>
            <a:pPr algn="l">
              <a:lnSpc>
                <a:spcPts val="2687"/>
              </a:lnSpc>
            </a:pPr>
            <a:r>
              <a:rPr lang="en-US" sz="1687" spc="6">
                <a:solidFill>
                  <a:srgbClr val="365B6D"/>
                </a:solidFill>
                <a:latin typeface="Barlow"/>
                <a:ea typeface="Barlow"/>
                <a:cs typeface="Barlow"/>
                <a:sym typeface="Barlow"/>
              </a:rPr>
              <a:t>PRIOR AUTHORIZATION</a:t>
            </a:r>
          </a:p>
        </p:txBody>
      </p:sp>
      <p:grpSp>
        <p:nvGrpSpPr>
          <p:cNvPr name="Group 10" id="10"/>
          <p:cNvGrpSpPr/>
          <p:nvPr/>
        </p:nvGrpSpPr>
        <p:grpSpPr>
          <a:xfrm rot="0">
            <a:off x="6240809" y="6325638"/>
            <a:ext cx="3396110" cy="537420"/>
            <a:chOff x="0" y="0"/>
            <a:chExt cx="4528147" cy="716559"/>
          </a:xfrm>
        </p:grpSpPr>
        <p:sp>
          <p:nvSpPr>
            <p:cNvPr name="Freeform 11" id="11"/>
            <p:cNvSpPr/>
            <p:nvPr/>
          </p:nvSpPr>
          <p:spPr>
            <a:xfrm flipH="false" flipV="false" rot="0">
              <a:off x="0" y="0"/>
              <a:ext cx="4528185" cy="716534"/>
            </a:xfrm>
            <a:custGeom>
              <a:avLst/>
              <a:gdLst/>
              <a:ahLst/>
              <a:cxnLst/>
              <a:rect r="r" b="b" t="t" l="l"/>
              <a:pathLst>
                <a:path h="716534" w="4528185">
                  <a:moveTo>
                    <a:pt x="0" y="127635"/>
                  </a:moveTo>
                  <a:cubicBezTo>
                    <a:pt x="0" y="57023"/>
                    <a:pt x="58039" y="0"/>
                    <a:pt x="129540" y="0"/>
                  </a:cubicBezTo>
                  <a:lnTo>
                    <a:pt x="4398645" y="0"/>
                  </a:lnTo>
                  <a:lnTo>
                    <a:pt x="4398645" y="6350"/>
                  </a:lnTo>
                  <a:lnTo>
                    <a:pt x="4398645" y="0"/>
                  </a:lnTo>
                  <a:cubicBezTo>
                    <a:pt x="4470146" y="0"/>
                    <a:pt x="4528185" y="57023"/>
                    <a:pt x="4528185" y="127635"/>
                  </a:cubicBezTo>
                  <a:lnTo>
                    <a:pt x="4521835" y="127635"/>
                  </a:lnTo>
                  <a:lnTo>
                    <a:pt x="4528185" y="127635"/>
                  </a:lnTo>
                  <a:lnTo>
                    <a:pt x="4528185" y="588899"/>
                  </a:lnTo>
                  <a:lnTo>
                    <a:pt x="4521835" y="588899"/>
                  </a:lnTo>
                  <a:lnTo>
                    <a:pt x="4528185" y="588899"/>
                  </a:lnTo>
                  <a:cubicBezTo>
                    <a:pt x="4528185" y="659511"/>
                    <a:pt x="4470146" y="716534"/>
                    <a:pt x="4398645" y="716534"/>
                  </a:cubicBezTo>
                  <a:lnTo>
                    <a:pt x="4398645" y="710184"/>
                  </a:lnTo>
                  <a:lnTo>
                    <a:pt x="4398645" y="716534"/>
                  </a:lnTo>
                  <a:lnTo>
                    <a:pt x="129540" y="716534"/>
                  </a:lnTo>
                  <a:lnTo>
                    <a:pt x="129540" y="710184"/>
                  </a:lnTo>
                  <a:lnTo>
                    <a:pt x="129540" y="716534"/>
                  </a:lnTo>
                  <a:cubicBezTo>
                    <a:pt x="58039" y="716534"/>
                    <a:pt x="0" y="659511"/>
                    <a:pt x="0" y="588899"/>
                  </a:cubicBezTo>
                  <a:lnTo>
                    <a:pt x="0" y="127635"/>
                  </a:lnTo>
                  <a:lnTo>
                    <a:pt x="6350" y="127635"/>
                  </a:lnTo>
                  <a:lnTo>
                    <a:pt x="0" y="127635"/>
                  </a:lnTo>
                  <a:moveTo>
                    <a:pt x="12700" y="127635"/>
                  </a:moveTo>
                  <a:lnTo>
                    <a:pt x="12700" y="588899"/>
                  </a:lnTo>
                  <a:lnTo>
                    <a:pt x="6350" y="588899"/>
                  </a:lnTo>
                  <a:lnTo>
                    <a:pt x="12700" y="588899"/>
                  </a:lnTo>
                  <a:cubicBezTo>
                    <a:pt x="12700" y="652272"/>
                    <a:pt x="64897" y="703834"/>
                    <a:pt x="129540" y="703834"/>
                  </a:cubicBezTo>
                  <a:lnTo>
                    <a:pt x="4398645" y="703834"/>
                  </a:lnTo>
                  <a:cubicBezTo>
                    <a:pt x="4463288" y="703834"/>
                    <a:pt x="4515485" y="652272"/>
                    <a:pt x="4515485" y="588899"/>
                  </a:cubicBezTo>
                  <a:lnTo>
                    <a:pt x="4515485" y="127635"/>
                  </a:lnTo>
                  <a:cubicBezTo>
                    <a:pt x="4515485" y="64262"/>
                    <a:pt x="4463288" y="12700"/>
                    <a:pt x="4398645" y="12700"/>
                  </a:cubicBezTo>
                  <a:lnTo>
                    <a:pt x="129540" y="12700"/>
                  </a:lnTo>
                  <a:lnTo>
                    <a:pt x="129540" y="6350"/>
                  </a:lnTo>
                  <a:lnTo>
                    <a:pt x="129540" y="12700"/>
                  </a:lnTo>
                  <a:cubicBezTo>
                    <a:pt x="64897" y="12700"/>
                    <a:pt x="12700" y="64262"/>
                    <a:pt x="12700" y="127635"/>
                  </a:cubicBezTo>
                  <a:close/>
                </a:path>
              </a:pathLst>
            </a:custGeom>
            <a:solidFill>
              <a:srgbClr val="365B6D"/>
            </a:solidFill>
          </p:spPr>
        </p:sp>
      </p:grpSp>
      <p:sp>
        <p:nvSpPr>
          <p:cNvPr name="TextBox 12" id="12"/>
          <p:cNvSpPr txBox="true"/>
          <p:nvPr/>
        </p:nvSpPr>
        <p:spPr>
          <a:xfrm rot="0">
            <a:off x="6417469" y="6354366"/>
            <a:ext cx="3042790" cy="315913"/>
          </a:xfrm>
          <a:prstGeom prst="rect">
            <a:avLst/>
          </a:prstGeom>
        </p:spPr>
        <p:txBody>
          <a:bodyPr anchor="t" rtlCol="false" tIns="0" lIns="0" bIns="0" rIns="0">
            <a:spAutoFit/>
          </a:bodyPr>
          <a:lstStyle/>
          <a:p>
            <a:pPr algn="l">
              <a:lnSpc>
                <a:spcPts val="2687"/>
              </a:lnSpc>
            </a:pPr>
            <a:r>
              <a:rPr lang="en-US" sz="1687" spc="6">
                <a:solidFill>
                  <a:srgbClr val="365B6D"/>
                </a:solidFill>
                <a:latin typeface="Barlow"/>
                <a:ea typeface="Barlow"/>
                <a:cs typeface="Barlow"/>
                <a:sym typeface="Barlow"/>
              </a:rPr>
              <a:t>FORMULARY INTELLIGENCE</a:t>
            </a:r>
          </a:p>
        </p:txBody>
      </p:sp>
      <p:sp>
        <p:nvSpPr>
          <p:cNvPr name="TextBox 13" id="13"/>
          <p:cNvSpPr txBox="true"/>
          <p:nvPr/>
        </p:nvSpPr>
        <p:spPr>
          <a:xfrm rot="0">
            <a:off x="2930633" y="8803072"/>
            <a:ext cx="9721230" cy="476250"/>
          </a:xfrm>
          <a:prstGeom prst="rect">
            <a:avLst/>
          </a:prstGeom>
        </p:spPr>
        <p:txBody>
          <a:bodyPr anchor="t" rtlCol="false" tIns="0" lIns="0" bIns="0" rIns="0">
            <a:spAutoFit/>
          </a:bodyPr>
          <a:lstStyle/>
          <a:p>
            <a:pPr algn="l">
              <a:lnSpc>
                <a:spcPts val="3600"/>
              </a:lnSpc>
            </a:pPr>
            <a:r>
              <a:rPr lang="en-US" b="true" sz="3000">
                <a:solidFill>
                  <a:srgbClr val="365B6D"/>
                </a:solidFill>
                <a:latin typeface="Barlow Semi-Bold"/>
                <a:ea typeface="Barlow Semi-Bold"/>
                <a:cs typeface="Barlow Semi-Bold"/>
                <a:sym typeface="Barlow Semi-Bold"/>
              </a:rPr>
              <a:t> Fasi Ullah Khan Mohammed	         Ayaan Ehsan Mohammed</a:t>
            </a:r>
          </a:p>
        </p:txBody>
      </p:sp>
      <p:grpSp>
        <p:nvGrpSpPr>
          <p:cNvPr name="Group 14" id="14"/>
          <p:cNvGrpSpPr/>
          <p:nvPr/>
        </p:nvGrpSpPr>
        <p:grpSpPr>
          <a:xfrm rot="0">
            <a:off x="15684503" y="9647215"/>
            <a:ext cx="2603497" cy="539753"/>
            <a:chOff x="0" y="0"/>
            <a:chExt cx="3471329" cy="719671"/>
          </a:xfrm>
        </p:grpSpPr>
        <p:sp>
          <p:nvSpPr>
            <p:cNvPr name="Freeform 15" id="15"/>
            <p:cNvSpPr/>
            <p:nvPr/>
          </p:nvSpPr>
          <p:spPr>
            <a:xfrm flipH="false" flipV="false" rot="0">
              <a:off x="0" y="0"/>
              <a:ext cx="3471291" cy="719709"/>
            </a:xfrm>
            <a:custGeom>
              <a:avLst/>
              <a:gdLst/>
              <a:ahLst/>
              <a:cxnLst/>
              <a:rect r="r" b="b" t="t" l="l"/>
              <a:pathLst>
                <a:path h="719709" w="3471291">
                  <a:moveTo>
                    <a:pt x="0" y="0"/>
                  </a:moveTo>
                  <a:lnTo>
                    <a:pt x="3471291" y="0"/>
                  </a:lnTo>
                  <a:lnTo>
                    <a:pt x="3471291" y="719709"/>
                  </a:lnTo>
                  <a:lnTo>
                    <a:pt x="0" y="719709"/>
                  </a:lnTo>
                  <a:lnTo>
                    <a:pt x="0" y="0"/>
                  </a:lnTo>
                  <a:close/>
                </a:path>
              </a:pathLst>
            </a:custGeom>
            <a:blipFill>
              <a:blip r:embed="rId2"/>
              <a:stretch>
                <a:fillRect l="0" t="0" r="-1" b="5"/>
              </a:stretch>
            </a:blipFill>
          </p:spPr>
        </p:sp>
      </p:grpSp>
      <p:grpSp>
        <p:nvGrpSpPr>
          <p:cNvPr name="Group 16" id="16"/>
          <p:cNvGrpSpPr/>
          <p:nvPr/>
        </p:nvGrpSpPr>
        <p:grpSpPr>
          <a:xfrm rot="0">
            <a:off x="11265646" y="1222058"/>
            <a:ext cx="6603997" cy="6699247"/>
            <a:chOff x="0" y="0"/>
            <a:chExt cx="8805329" cy="8932329"/>
          </a:xfrm>
        </p:grpSpPr>
        <p:sp>
          <p:nvSpPr>
            <p:cNvPr name="Freeform 17" id="17"/>
            <p:cNvSpPr/>
            <p:nvPr/>
          </p:nvSpPr>
          <p:spPr>
            <a:xfrm flipH="false" flipV="false" rot="0">
              <a:off x="0" y="0"/>
              <a:ext cx="8805291" cy="8932291"/>
            </a:xfrm>
            <a:custGeom>
              <a:avLst/>
              <a:gdLst/>
              <a:ahLst/>
              <a:cxnLst/>
              <a:rect r="r" b="b" t="t" l="l"/>
              <a:pathLst>
                <a:path h="8932291" w="8805291">
                  <a:moveTo>
                    <a:pt x="0" y="0"/>
                  </a:moveTo>
                  <a:lnTo>
                    <a:pt x="8805291" y="0"/>
                  </a:lnTo>
                  <a:lnTo>
                    <a:pt x="8805291" y="8932291"/>
                  </a:lnTo>
                  <a:lnTo>
                    <a:pt x="0" y="8932291"/>
                  </a:lnTo>
                  <a:lnTo>
                    <a:pt x="0" y="0"/>
                  </a:lnTo>
                  <a:close/>
                </a:path>
              </a:pathLst>
            </a:custGeom>
            <a:blipFill>
              <a:blip r:embed="rId3"/>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821903" y="525656"/>
            <a:ext cx="8838828" cy="882650"/>
          </a:xfrm>
          <a:prstGeom prst="rect">
            <a:avLst/>
          </a:prstGeom>
        </p:spPr>
        <p:txBody>
          <a:bodyPr anchor="t" rtlCol="false" tIns="0" lIns="0" bIns="0" rIns="0">
            <a:spAutoFit/>
          </a:bodyPr>
          <a:lstStyle/>
          <a:p>
            <a:pPr algn="l">
              <a:lnSpc>
                <a:spcPts val="7000"/>
              </a:lnSpc>
            </a:pPr>
            <a:r>
              <a:rPr lang="en-US" b="true" sz="5562" u="sng">
                <a:solidFill>
                  <a:srgbClr val="6C9286"/>
                </a:solidFill>
                <a:latin typeface="Barlow Bold"/>
                <a:ea typeface="Barlow Bold"/>
                <a:cs typeface="Barlow Bold"/>
                <a:sym typeface="Barlow Bold"/>
              </a:rPr>
              <a:t>Who does RxAssist Support </a:t>
            </a:r>
          </a:p>
        </p:txBody>
      </p:sp>
      <p:grpSp>
        <p:nvGrpSpPr>
          <p:cNvPr name="Group 3" id="3"/>
          <p:cNvGrpSpPr/>
          <p:nvPr/>
        </p:nvGrpSpPr>
        <p:grpSpPr>
          <a:xfrm rot="0">
            <a:off x="1898352" y="3184465"/>
            <a:ext cx="5999074" cy="1431493"/>
            <a:chOff x="0" y="0"/>
            <a:chExt cx="7998765" cy="1908658"/>
          </a:xfrm>
        </p:grpSpPr>
        <p:sp>
          <p:nvSpPr>
            <p:cNvPr name="Freeform 4" id="4"/>
            <p:cNvSpPr/>
            <p:nvPr/>
          </p:nvSpPr>
          <p:spPr>
            <a:xfrm flipH="false" flipV="false" rot="0">
              <a:off x="6350" y="6350"/>
              <a:ext cx="7986141" cy="1896110"/>
            </a:xfrm>
            <a:custGeom>
              <a:avLst/>
              <a:gdLst/>
              <a:ahLst/>
              <a:cxnLst/>
              <a:rect r="r" b="b" t="t" l="l"/>
              <a:pathLst>
                <a:path h="1896110" w="7986141">
                  <a:moveTo>
                    <a:pt x="0" y="106045"/>
                  </a:moveTo>
                  <a:cubicBezTo>
                    <a:pt x="0" y="47498"/>
                    <a:pt x="47752" y="0"/>
                    <a:pt x="106553" y="0"/>
                  </a:cubicBezTo>
                  <a:lnTo>
                    <a:pt x="7879588" y="0"/>
                  </a:lnTo>
                  <a:cubicBezTo>
                    <a:pt x="7938389" y="0"/>
                    <a:pt x="7986141" y="47498"/>
                    <a:pt x="7986141" y="106045"/>
                  </a:cubicBezTo>
                  <a:lnTo>
                    <a:pt x="7986141" y="1790065"/>
                  </a:lnTo>
                  <a:cubicBezTo>
                    <a:pt x="7986141" y="1848612"/>
                    <a:pt x="7938389" y="1896110"/>
                    <a:pt x="7879588" y="1896110"/>
                  </a:cubicBezTo>
                  <a:lnTo>
                    <a:pt x="106553" y="1896110"/>
                  </a:lnTo>
                  <a:cubicBezTo>
                    <a:pt x="47752" y="1896110"/>
                    <a:pt x="0" y="1848612"/>
                    <a:pt x="0" y="1790065"/>
                  </a:cubicBezTo>
                  <a:close/>
                </a:path>
              </a:pathLst>
            </a:custGeom>
            <a:solidFill>
              <a:srgbClr val="F9D2D6"/>
            </a:solidFill>
          </p:spPr>
        </p:sp>
        <p:sp>
          <p:nvSpPr>
            <p:cNvPr name="Freeform 5" id="5"/>
            <p:cNvSpPr/>
            <p:nvPr/>
          </p:nvSpPr>
          <p:spPr>
            <a:xfrm flipH="false" flipV="false" rot="0">
              <a:off x="0" y="0"/>
              <a:ext cx="7998841" cy="1908810"/>
            </a:xfrm>
            <a:custGeom>
              <a:avLst/>
              <a:gdLst/>
              <a:ahLst/>
              <a:cxnLst/>
              <a:rect r="r" b="b" t="t" l="l"/>
              <a:pathLst>
                <a:path h="1908810" w="7998841">
                  <a:moveTo>
                    <a:pt x="0" y="112395"/>
                  </a:moveTo>
                  <a:cubicBezTo>
                    <a:pt x="0" y="50292"/>
                    <a:pt x="50546" y="0"/>
                    <a:pt x="112903" y="0"/>
                  </a:cubicBezTo>
                  <a:lnTo>
                    <a:pt x="7885938" y="0"/>
                  </a:lnTo>
                  <a:lnTo>
                    <a:pt x="7885938" y="6350"/>
                  </a:lnTo>
                  <a:lnTo>
                    <a:pt x="7885938" y="0"/>
                  </a:lnTo>
                  <a:cubicBezTo>
                    <a:pt x="7948295" y="0"/>
                    <a:pt x="7998841" y="50292"/>
                    <a:pt x="7998841" y="112395"/>
                  </a:cubicBezTo>
                  <a:lnTo>
                    <a:pt x="7992491" y="112395"/>
                  </a:lnTo>
                  <a:lnTo>
                    <a:pt x="7998841" y="112395"/>
                  </a:lnTo>
                  <a:lnTo>
                    <a:pt x="7998841" y="1796415"/>
                  </a:lnTo>
                  <a:lnTo>
                    <a:pt x="7992491" y="1796415"/>
                  </a:lnTo>
                  <a:lnTo>
                    <a:pt x="7998841" y="1796415"/>
                  </a:lnTo>
                  <a:cubicBezTo>
                    <a:pt x="7998841" y="1858518"/>
                    <a:pt x="7948295" y="1908810"/>
                    <a:pt x="7885938" y="1908810"/>
                  </a:cubicBezTo>
                  <a:lnTo>
                    <a:pt x="7885938" y="1902460"/>
                  </a:lnTo>
                  <a:lnTo>
                    <a:pt x="7885938" y="1908810"/>
                  </a:lnTo>
                  <a:lnTo>
                    <a:pt x="112903" y="1908810"/>
                  </a:lnTo>
                  <a:lnTo>
                    <a:pt x="112903" y="1902460"/>
                  </a:lnTo>
                  <a:lnTo>
                    <a:pt x="112903" y="1908810"/>
                  </a:lnTo>
                  <a:cubicBezTo>
                    <a:pt x="50546" y="1908810"/>
                    <a:pt x="0" y="1858518"/>
                    <a:pt x="0" y="1796415"/>
                  </a:cubicBezTo>
                  <a:lnTo>
                    <a:pt x="0" y="112395"/>
                  </a:lnTo>
                  <a:lnTo>
                    <a:pt x="6350" y="112395"/>
                  </a:lnTo>
                  <a:lnTo>
                    <a:pt x="0" y="112395"/>
                  </a:lnTo>
                  <a:moveTo>
                    <a:pt x="12700" y="112395"/>
                  </a:moveTo>
                  <a:lnTo>
                    <a:pt x="12700" y="1796415"/>
                  </a:lnTo>
                  <a:lnTo>
                    <a:pt x="6350" y="1796415"/>
                  </a:lnTo>
                  <a:lnTo>
                    <a:pt x="12700" y="1796415"/>
                  </a:lnTo>
                  <a:cubicBezTo>
                    <a:pt x="12700" y="1851406"/>
                    <a:pt x="57531" y="1896110"/>
                    <a:pt x="112903" y="1896110"/>
                  </a:cubicBezTo>
                  <a:lnTo>
                    <a:pt x="7885938" y="1896110"/>
                  </a:lnTo>
                  <a:cubicBezTo>
                    <a:pt x="7941310" y="1896110"/>
                    <a:pt x="7986141" y="1851533"/>
                    <a:pt x="7986141" y="1796415"/>
                  </a:cubicBezTo>
                  <a:lnTo>
                    <a:pt x="7986141" y="112395"/>
                  </a:lnTo>
                  <a:cubicBezTo>
                    <a:pt x="7986141" y="57404"/>
                    <a:pt x="7941310" y="12700"/>
                    <a:pt x="7885938" y="12700"/>
                  </a:cubicBezTo>
                  <a:lnTo>
                    <a:pt x="112903" y="12700"/>
                  </a:lnTo>
                  <a:lnTo>
                    <a:pt x="112903" y="6350"/>
                  </a:lnTo>
                  <a:lnTo>
                    <a:pt x="112903" y="12700"/>
                  </a:lnTo>
                  <a:cubicBezTo>
                    <a:pt x="57531" y="12700"/>
                    <a:pt x="12700" y="57277"/>
                    <a:pt x="12700" y="112395"/>
                  </a:cubicBezTo>
                  <a:close/>
                </a:path>
              </a:pathLst>
            </a:custGeom>
            <a:solidFill>
              <a:srgbClr val="DFB8BC"/>
            </a:solidFill>
          </p:spPr>
        </p:sp>
      </p:grpSp>
      <p:sp>
        <p:nvSpPr>
          <p:cNvPr name="TextBox 6" id="6"/>
          <p:cNvSpPr txBox="true"/>
          <p:nvPr/>
        </p:nvSpPr>
        <p:spPr>
          <a:xfrm rot="0">
            <a:off x="2183359" y="3613375"/>
            <a:ext cx="5088369" cy="441325"/>
          </a:xfrm>
          <a:prstGeom prst="rect">
            <a:avLst/>
          </a:prstGeom>
        </p:spPr>
        <p:txBody>
          <a:bodyPr anchor="t" rtlCol="false" tIns="0" lIns="0" bIns="0" rIns="0">
            <a:spAutoFit/>
          </a:bodyPr>
          <a:lstStyle/>
          <a:p>
            <a:pPr algn="l">
              <a:lnSpc>
                <a:spcPts val="3500"/>
              </a:lnSpc>
            </a:pPr>
            <a:r>
              <a:rPr lang="en-US" b="true" sz="2750">
                <a:solidFill>
                  <a:srgbClr val="365B6D"/>
                </a:solidFill>
                <a:latin typeface="Barlow Semi-Bold"/>
                <a:ea typeface="Barlow Semi-Bold"/>
                <a:cs typeface="Barlow Semi-Bold"/>
                <a:sym typeface="Barlow Semi-Bold"/>
              </a:rPr>
              <a:t>Providers</a:t>
            </a:r>
          </a:p>
        </p:txBody>
      </p:sp>
      <p:grpSp>
        <p:nvGrpSpPr>
          <p:cNvPr name="Group 7" id="7"/>
          <p:cNvGrpSpPr/>
          <p:nvPr/>
        </p:nvGrpSpPr>
        <p:grpSpPr>
          <a:xfrm rot="0">
            <a:off x="1846926" y="5107134"/>
            <a:ext cx="5999074" cy="2677430"/>
            <a:chOff x="0" y="0"/>
            <a:chExt cx="7998765" cy="3569907"/>
          </a:xfrm>
        </p:grpSpPr>
        <p:sp>
          <p:nvSpPr>
            <p:cNvPr name="Freeform 8" id="8"/>
            <p:cNvSpPr/>
            <p:nvPr/>
          </p:nvSpPr>
          <p:spPr>
            <a:xfrm flipH="false" flipV="false" rot="0">
              <a:off x="6350" y="6350"/>
              <a:ext cx="7986014" cy="3557270"/>
            </a:xfrm>
            <a:custGeom>
              <a:avLst/>
              <a:gdLst/>
              <a:ahLst/>
              <a:cxnLst/>
              <a:rect r="r" b="b" t="t" l="l"/>
              <a:pathLst>
                <a:path h="3557270" w="7986014">
                  <a:moveTo>
                    <a:pt x="0" y="163957"/>
                  </a:moveTo>
                  <a:cubicBezTo>
                    <a:pt x="0" y="73406"/>
                    <a:pt x="73533" y="0"/>
                    <a:pt x="164211" y="0"/>
                  </a:cubicBezTo>
                  <a:lnTo>
                    <a:pt x="7821803" y="0"/>
                  </a:lnTo>
                  <a:cubicBezTo>
                    <a:pt x="7912481" y="0"/>
                    <a:pt x="7986014" y="73406"/>
                    <a:pt x="7986014" y="163957"/>
                  </a:cubicBezTo>
                  <a:lnTo>
                    <a:pt x="7986014" y="3393313"/>
                  </a:lnTo>
                  <a:cubicBezTo>
                    <a:pt x="7986014" y="3483864"/>
                    <a:pt x="7912481" y="3557270"/>
                    <a:pt x="7821803" y="3557270"/>
                  </a:cubicBezTo>
                  <a:lnTo>
                    <a:pt x="164211" y="3557270"/>
                  </a:lnTo>
                  <a:cubicBezTo>
                    <a:pt x="73533" y="3557143"/>
                    <a:pt x="0" y="3483864"/>
                    <a:pt x="0" y="3393313"/>
                  </a:cubicBezTo>
                  <a:close/>
                </a:path>
              </a:pathLst>
            </a:custGeom>
            <a:solidFill>
              <a:srgbClr val="F9D2D6"/>
            </a:solidFill>
          </p:spPr>
        </p:sp>
        <p:sp>
          <p:nvSpPr>
            <p:cNvPr name="Freeform 9" id="9"/>
            <p:cNvSpPr/>
            <p:nvPr/>
          </p:nvSpPr>
          <p:spPr>
            <a:xfrm flipH="false" flipV="false" rot="0">
              <a:off x="0" y="0"/>
              <a:ext cx="7998714" cy="3569970"/>
            </a:xfrm>
            <a:custGeom>
              <a:avLst/>
              <a:gdLst/>
              <a:ahLst/>
              <a:cxnLst/>
              <a:rect r="r" b="b" t="t" l="l"/>
              <a:pathLst>
                <a:path h="3569970" w="7998714">
                  <a:moveTo>
                    <a:pt x="0" y="170307"/>
                  </a:moveTo>
                  <a:cubicBezTo>
                    <a:pt x="0" y="76200"/>
                    <a:pt x="76327" y="0"/>
                    <a:pt x="170561" y="0"/>
                  </a:cubicBezTo>
                  <a:lnTo>
                    <a:pt x="7828153" y="0"/>
                  </a:lnTo>
                  <a:lnTo>
                    <a:pt x="7828153" y="6350"/>
                  </a:lnTo>
                  <a:lnTo>
                    <a:pt x="7828153" y="0"/>
                  </a:lnTo>
                  <a:cubicBezTo>
                    <a:pt x="7922387" y="0"/>
                    <a:pt x="7998714" y="76200"/>
                    <a:pt x="7998714" y="170307"/>
                  </a:cubicBezTo>
                  <a:lnTo>
                    <a:pt x="7992364" y="170307"/>
                  </a:lnTo>
                  <a:lnTo>
                    <a:pt x="7998714" y="170307"/>
                  </a:lnTo>
                  <a:lnTo>
                    <a:pt x="7998714" y="3399663"/>
                  </a:lnTo>
                  <a:lnTo>
                    <a:pt x="7992364" y="3399663"/>
                  </a:lnTo>
                  <a:lnTo>
                    <a:pt x="7998714" y="3399663"/>
                  </a:lnTo>
                  <a:cubicBezTo>
                    <a:pt x="7998714" y="3493770"/>
                    <a:pt x="7922387" y="3569970"/>
                    <a:pt x="7828153" y="3569970"/>
                  </a:cubicBezTo>
                  <a:lnTo>
                    <a:pt x="7828153" y="3563620"/>
                  </a:lnTo>
                  <a:lnTo>
                    <a:pt x="7828153" y="3569970"/>
                  </a:lnTo>
                  <a:lnTo>
                    <a:pt x="170561" y="3569970"/>
                  </a:lnTo>
                  <a:lnTo>
                    <a:pt x="170561" y="3563620"/>
                  </a:lnTo>
                  <a:lnTo>
                    <a:pt x="170561" y="3569970"/>
                  </a:lnTo>
                  <a:cubicBezTo>
                    <a:pt x="76327" y="3569970"/>
                    <a:pt x="0" y="3493770"/>
                    <a:pt x="0" y="3399663"/>
                  </a:cubicBezTo>
                  <a:lnTo>
                    <a:pt x="0" y="170307"/>
                  </a:lnTo>
                  <a:lnTo>
                    <a:pt x="6350" y="170307"/>
                  </a:lnTo>
                  <a:lnTo>
                    <a:pt x="0" y="170307"/>
                  </a:lnTo>
                  <a:moveTo>
                    <a:pt x="12700" y="170307"/>
                  </a:moveTo>
                  <a:lnTo>
                    <a:pt x="12700" y="3399663"/>
                  </a:lnTo>
                  <a:lnTo>
                    <a:pt x="6350" y="3399663"/>
                  </a:lnTo>
                  <a:lnTo>
                    <a:pt x="12700" y="3399663"/>
                  </a:lnTo>
                  <a:cubicBezTo>
                    <a:pt x="12700" y="3486658"/>
                    <a:pt x="83439" y="3557270"/>
                    <a:pt x="170561" y="3557270"/>
                  </a:cubicBezTo>
                  <a:lnTo>
                    <a:pt x="7828153" y="3557270"/>
                  </a:lnTo>
                  <a:cubicBezTo>
                    <a:pt x="7915402" y="3557270"/>
                    <a:pt x="7986014" y="3486658"/>
                    <a:pt x="7986014" y="3399663"/>
                  </a:cubicBezTo>
                  <a:lnTo>
                    <a:pt x="7986014" y="170307"/>
                  </a:lnTo>
                  <a:cubicBezTo>
                    <a:pt x="7986014" y="83312"/>
                    <a:pt x="7915402" y="12700"/>
                    <a:pt x="7828153" y="12700"/>
                  </a:cubicBezTo>
                  <a:lnTo>
                    <a:pt x="170561" y="12700"/>
                  </a:lnTo>
                  <a:lnTo>
                    <a:pt x="170561" y="6350"/>
                  </a:lnTo>
                  <a:lnTo>
                    <a:pt x="170561" y="12700"/>
                  </a:lnTo>
                  <a:cubicBezTo>
                    <a:pt x="83439" y="12700"/>
                    <a:pt x="12700" y="83312"/>
                    <a:pt x="12700" y="170307"/>
                  </a:cubicBezTo>
                  <a:close/>
                </a:path>
              </a:pathLst>
            </a:custGeom>
            <a:solidFill>
              <a:srgbClr val="DFB8BC"/>
            </a:solidFill>
          </p:spPr>
        </p:sp>
      </p:grpSp>
      <p:sp>
        <p:nvSpPr>
          <p:cNvPr name="TextBox 10" id="10"/>
          <p:cNvSpPr txBox="true"/>
          <p:nvPr/>
        </p:nvSpPr>
        <p:spPr>
          <a:xfrm rot="0">
            <a:off x="2131933" y="5363566"/>
            <a:ext cx="926902" cy="441325"/>
          </a:xfrm>
          <a:prstGeom prst="rect">
            <a:avLst/>
          </a:prstGeom>
        </p:spPr>
        <p:txBody>
          <a:bodyPr anchor="t" rtlCol="false" tIns="0" lIns="0" bIns="0" rIns="0">
            <a:spAutoFit/>
          </a:bodyPr>
          <a:lstStyle/>
          <a:p>
            <a:pPr algn="l">
              <a:lnSpc>
                <a:spcPts val="3500"/>
              </a:lnSpc>
            </a:pPr>
            <a:r>
              <a:rPr lang="en-US" b="true" sz="2750">
                <a:solidFill>
                  <a:srgbClr val="365B6D"/>
                </a:solidFill>
                <a:latin typeface="Barlow Semi-Bold"/>
                <a:ea typeface="Barlow Semi-Bold"/>
                <a:cs typeface="Barlow Semi-Bold"/>
                <a:sym typeface="Barlow Semi-Bold"/>
              </a:rPr>
              <a:t>How ?</a:t>
            </a:r>
          </a:p>
        </p:txBody>
      </p:sp>
      <p:sp>
        <p:nvSpPr>
          <p:cNvPr name="TextBox 11" id="11"/>
          <p:cNvSpPr txBox="true"/>
          <p:nvPr/>
        </p:nvSpPr>
        <p:spPr>
          <a:xfrm rot="0">
            <a:off x="2131933" y="5923607"/>
            <a:ext cx="5495401" cy="8096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 Quick Look-up.</a:t>
            </a:r>
          </a:p>
          <a:p>
            <a:pPr algn="l">
              <a:lnSpc>
                <a:spcPts val="3374"/>
              </a:lnSpc>
            </a:pPr>
            <a:r>
              <a:rPr lang="en-US" sz="2124" spc="8">
                <a:solidFill>
                  <a:srgbClr val="365B6D"/>
                </a:solidFill>
                <a:latin typeface="Barlow"/>
                <a:ea typeface="Barlow"/>
                <a:cs typeface="Barlow"/>
                <a:sym typeface="Barlow"/>
              </a:rPr>
              <a:t>- Personalized Prior Auth Drafted.</a:t>
            </a:r>
          </a:p>
        </p:txBody>
      </p:sp>
      <p:grpSp>
        <p:nvGrpSpPr>
          <p:cNvPr name="Group 12" id="12"/>
          <p:cNvGrpSpPr/>
          <p:nvPr/>
        </p:nvGrpSpPr>
        <p:grpSpPr>
          <a:xfrm rot="0">
            <a:off x="10192588" y="3184465"/>
            <a:ext cx="6248486" cy="1431493"/>
            <a:chOff x="0" y="0"/>
            <a:chExt cx="8331314" cy="1908658"/>
          </a:xfrm>
        </p:grpSpPr>
        <p:sp>
          <p:nvSpPr>
            <p:cNvPr name="Freeform 13" id="13"/>
            <p:cNvSpPr/>
            <p:nvPr/>
          </p:nvSpPr>
          <p:spPr>
            <a:xfrm flipH="false" flipV="false" rot="0">
              <a:off x="6350" y="6350"/>
              <a:ext cx="8318627" cy="1896110"/>
            </a:xfrm>
            <a:custGeom>
              <a:avLst/>
              <a:gdLst/>
              <a:ahLst/>
              <a:cxnLst/>
              <a:rect r="r" b="b" t="t" l="l"/>
              <a:pathLst>
                <a:path h="1896110" w="8318627">
                  <a:moveTo>
                    <a:pt x="0" y="106045"/>
                  </a:moveTo>
                  <a:cubicBezTo>
                    <a:pt x="0" y="47498"/>
                    <a:pt x="47752" y="0"/>
                    <a:pt x="106553" y="0"/>
                  </a:cubicBezTo>
                  <a:lnTo>
                    <a:pt x="8212074" y="0"/>
                  </a:lnTo>
                  <a:cubicBezTo>
                    <a:pt x="8270875" y="0"/>
                    <a:pt x="8318627" y="47498"/>
                    <a:pt x="8318627" y="106045"/>
                  </a:cubicBezTo>
                  <a:lnTo>
                    <a:pt x="8318627" y="1790065"/>
                  </a:lnTo>
                  <a:cubicBezTo>
                    <a:pt x="8318627" y="1848612"/>
                    <a:pt x="8270875" y="1896110"/>
                    <a:pt x="8212074" y="1896110"/>
                  </a:cubicBezTo>
                  <a:lnTo>
                    <a:pt x="106553" y="1896110"/>
                  </a:lnTo>
                  <a:cubicBezTo>
                    <a:pt x="47752" y="1896110"/>
                    <a:pt x="0" y="1848612"/>
                    <a:pt x="0" y="1790065"/>
                  </a:cubicBezTo>
                  <a:close/>
                </a:path>
              </a:pathLst>
            </a:custGeom>
            <a:solidFill>
              <a:srgbClr val="F9D2D6"/>
            </a:solidFill>
          </p:spPr>
        </p:sp>
        <p:sp>
          <p:nvSpPr>
            <p:cNvPr name="Freeform 14" id="14"/>
            <p:cNvSpPr/>
            <p:nvPr/>
          </p:nvSpPr>
          <p:spPr>
            <a:xfrm flipH="false" flipV="false" rot="0">
              <a:off x="0" y="0"/>
              <a:ext cx="8331327" cy="1908810"/>
            </a:xfrm>
            <a:custGeom>
              <a:avLst/>
              <a:gdLst/>
              <a:ahLst/>
              <a:cxnLst/>
              <a:rect r="r" b="b" t="t" l="l"/>
              <a:pathLst>
                <a:path h="1908810" w="8331327">
                  <a:moveTo>
                    <a:pt x="0" y="112395"/>
                  </a:moveTo>
                  <a:cubicBezTo>
                    <a:pt x="0" y="50292"/>
                    <a:pt x="50546" y="0"/>
                    <a:pt x="112903" y="0"/>
                  </a:cubicBezTo>
                  <a:lnTo>
                    <a:pt x="8218424" y="0"/>
                  </a:lnTo>
                  <a:lnTo>
                    <a:pt x="8218424" y="6350"/>
                  </a:lnTo>
                  <a:lnTo>
                    <a:pt x="8218424" y="0"/>
                  </a:lnTo>
                  <a:cubicBezTo>
                    <a:pt x="8280781" y="0"/>
                    <a:pt x="8331327" y="50292"/>
                    <a:pt x="8331327" y="112395"/>
                  </a:cubicBezTo>
                  <a:lnTo>
                    <a:pt x="8324977" y="112395"/>
                  </a:lnTo>
                  <a:lnTo>
                    <a:pt x="8331327" y="112395"/>
                  </a:lnTo>
                  <a:lnTo>
                    <a:pt x="8331327" y="1796415"/>
                  </a:lnTo>
                  <a:lnTo>
                    <a:pt x="8324977" y="1796415"/>
                  </a:lnTo>
                  <a:lnTo>
                    <a:pt x="8331327" y="1796415"/>
                  </a:lnTo>
                  <a:cubicBezTo>
                    <a:pt x="8331327" y="1858518"/>
                    <a:pt x="8280781" y="1908810"/>
                    <a:pt x="8218424" y="1908810"/>
                  </a:cubicBezTo>
                  <a:lnTo>
                    <a:pt x="8218424" y="1902460"/>
                  </a:lnTo>
                  <a:lnTo>
                    <a:pt x="8218424" y="1908810"/>
                  </a:lnTo>
                  <a:lnTo>
                    <a:pt x="112903" y="1908810"/>
                  </a:lnTo>
                  <a:lnTo>
                    <a:pt x="112903" y="1902460"/>
                  </a:lnTo>
                  <a:lnTo>
                    <a:pt x="112903" y="1908810"/>
                  </a:lnTo>
                  <a:cubicBezTo>
                    <a:pt x="50546" y="1908810"/>
                    <a:pt x="0" y="1858518"/>
                    <a:pt x="0" y="1796415"/>
                  </a:cubicBezTo>
                  <a:lnTo>
                    <a:pt x="0" y="112395"/>
                  </a:lnTo>
                  <a:lnTo>
                    <a:pt x="6350" y="112395"/>
                  </a:lnTo>
                  <a:lnTo>
                    <a:pt x="0" y="112395"/>
                  </a:lnTo>
                  <a:moveTo>
                    <a:pt x="12700" y="112395"/>
                  </a:moveTo>
                  <a:lnTo>
                    <a:pt x="12700" y="1796415"/>
                  </a:lnTo>
                  <a:lnTo>
                    <a:pt x="6350" y="1796415"/>
                  </a:lnTo>
                  <a:lnTo>
                    <a:pt x="12700" y="1796415"/>
                  </a:lnTo>
                  <a:cubicBezTo>
                    <a:pt x="12700" y="1851406"/>
                    <a:pt x="57531" y="1896110"/>
                    <a:pt x="112903" y="1896110"/>
                  </a:cubicBezTo>
                  <a:lnTo>
                    <a:pt x="8218424" y="1896110"/>
                  </a:lnTo>
                  <a:cubicBezTo>
                    <a:pt x="8273796" y="1896110"/>
                    <a:pt x="8318627" y="1851533"/>
                    <a:pt x="8318627" y="1796415"/>
                  </a:cubicBezTo>
                  <a:lnTo>
                    <a:pt x="8318627" y="112395"/>
                  </a:lnTo>
                  <a:cubicBezTo>
                    <a:pt x="8318627" y="57404"/>
                    <a:pt x="8273796" y="12700"/>
                    <a:pt x="8218424" y="12700"/>
                  </a:cubicBezTo>
                  <a:lnTo>
                    <a:pt x="112903" y="12700"/>
                  </a:lnTo>
                  <a:lnTo>
                    <a:pt x="112903" y="6350"/>
                  </a:lnTo>
                  <a:lnTo>
                    <a:pt x="112903" y="12700"/>
                  </a:lnTo>
                  <a:cubicBezTo>
                    <a:pt x="57531" y="12700"/>
                    <a:pt x="12700" y="57277"/>
                    <a:pt x="12700" y="112395"/>
                  </a:cubicBezTo>
                  <a:close/>
                </a:path>
              </a:pathLst>
            </a:custGeom>
            <a:solidFill>
              <a:srgbClr val="DFB8BC"/>
            </a:solidFill>
          </p:spPr>
        </p:sp>
      </p:grpSp>
      <p:sp>
        <p:nvSpPr>
          <p:cNvPr name="TextBox 15" id="15"/>
          <p:cNvSpPr txBox="true"/>
          <p:nvPr/>
        </p:nvSpPr>
        <p:spPr>
          <a:xfrm rot="0">
            <a:off x="10477595" y="3644979"/>
            <a:ext cx="5088369" cy="441325"/>
          </a:xfrm>
          <a:prstGeom prst="rect">
            <a:avLst/>
          </a:prstGeom>
        </p:spPr>
        <p:txBody>
          <a:bodyPr anchor="t" rtlCol="false" tIns="0" lIns="0" bIns="0" rIns="0">
            <a:spAutoFit/>
          </a:bodyPr>
          <a:lstStyle/>
          <a:p>
            <a:pPr algn="l">
              <a:lnSpc>
                <a:spcPts val="3500"/>
              </a:lnSpc>
            </a:pPr>
            <a:r>
              <a:rPr lang="en-US" b="true" sz="2750">
                <a:solidFill>
                  <a:srgbClr val="365B6D"/>
                </a:solidFill>
                <a:latin typeface="Barlow Semi-Bold"/>
                <a:ea typeface="Barlow Semi-Bold"/>
                <a:cs typeface="Barlow Semi-Bold"/>
                <a:sym typeface="Barlow Semi-Bold"/>
              </a:rPr>
              <a:t>Patients</a:t>
            </a:r>
          </a:p>
        </p:txBody>
      </p:sp>
      <p:grpSp>
        <p:nvGrpSpPr>
          <p:cNvPr name="Group 16" id="16"/>
          <p:cNvGrpSpPr/>
          <p:nvPr/>
        </p:nvGrpSpPr>
        <p:grpSpPr>
          <a:xfrm rot="0">
            <a:off x="10192588" y="5138738"/>
            <a:ext cx="5999074" cy="2677430"/>
            <a:chOff x="0" y="0"/>
            <a:chExt cx="7998765" cy="3569907"/>
          </a:xfrm>
        </p:grpSpPr>
        <p:sp>
          <p:nvSpPr>
            <p:cNvPr name="Freeform 17" id="17"/>
            <p:cNvSpPr/>
            <p:nvPr/>
          </p:nvSpPr>
          <p:spPr>
            <a:xfrm flipH="false" flipV="false" rot="0">
              <a:off x="6350" y="6350"/>
              <a:ext cx="7986014" cy="3557270"/>
            </a:xfrm>
            <a:custGeom>
              <a:avLst/>
              <a:gdLst/>
              <a:ahLst/>
              <a:cxnLst/>
              <a:rect r="r" b="b" t="t" l="l"/>
              <a:pathLst>
                <a:path h="3557270" w="7986014">
                  <a:moveTo>
                    <a:pt x="0" y="163957"/>
                  </a:moveTo>
                  <a:cubicBezTo>
                    <a:pt x="0" y="73406"/>
                    <a:pt x="73533" y="0"/>
                    <a:pt x="164211" y="0"/>
                  </a:cubicBezTo>
                  <a:lnTo>
                    <a:pt x="7821803" y="0"/>
                  </a:lnTo>
                  <a:cubicBezTo>
                    <a:pt x="7912481" y="0"/>
                    <a:pt x="7986014" y="73406"/>
                    <a:pt x="7986014" y="163957"/>
                  </a:cubicBezTo>
                  <a:lnTo>
                    <a:pt x="7986014" y="3393313"/>
                  </a:lnTo>
                  <a:cubicBezTo>
                    <a:pt x="7986014" y="3483864"/>
                    <a:pt x="7912481" y="3557270"/>
                    <a:pt x="7821803" y="3557270"/>
                  </a:cubicBezTo>
                  <a:lnTo>
                    <a:pt x="164211" y="3557270"/>
                  </a:lnTo>
                  <a:cubicBezTo>
                    <a:pt x="73533" y="3557143"/>
                    <a:pt x="0" y="3483864"/>
                    <a:pt x="0" y="3393313"/>
                  </a:cubicBezTo>
                  <a:close/>
                </a:path>
              </a:pathLst>
            </a:custGeom>
            <a:solidFill>
              <a:srgbClr val="F9D2D6"/>
            </a:solidFill>
          </p:spPr>
        </p:sp>
        <p:sp>
          <p:nvSpPr>
            <p:cNvPr name="Freeform 18" id="18"/>
            <p:cNvSpPr/>
            <p:nvPr/>
          </p:nvSpPr>
          <p:spPr>
            <a:xfrm flipH="false" flipV="false" rot="0">
              <a:off x="0" y="0"/>
              <a:ext cx="7998714" cy="3569970"/>
            </a:xfrm>
            <a:custGeom>
              <a:avLst/>
              <a:gdLst/>
              <a:ahLst/>
              <a:cxnLst/>
              <a:rect r="r" b="b" t="t" l="l"/>
              <a:pathLst>
                <a:path h="3569970" w="7998714">
                  <a:moveTo>
                    <a:pt x="0" y="170307"/>
                  </a:moveTo>
                  <a:cubicBezTo>
                    <a:pt x="0" y="76200"/>
                    <a:pt x="76327" y="0"/>
                    <a:pt x="170561" y="0"/>
                  </a:cubicBezTo>
                  <a:lnTo>
                    <a:pt x="7828153" y="0"/>
                  </a:lnTo>
                  <a:lnTo>
                    <a:pt x="7828153" y="6350"/>
                  </a:lnTo>
                  <a:lnTo>
                    <a:pt x="7828153" y="0"/>
                  </a:lnTo>
                  <a:cubicBezTo>
                    <a:pt x="7922387" y="0"/>
                    <a:pt x="7998714" y="76200"/>
                    <a:pt x="7998714" y="170307"/>
                  </a:cubicBezTo>
                  <a:lnTo>
                    <a:pt x="7992364" y="170307"/>
                  </a:lnTo>
                  <a:lnTo>
                    <a:pt x="7998714" y="170307"/>
                  </a:lnTo>
                  <a:lnTo>
                    <a:pt x="7998714" y="3399663"/>
                  </a:lnTo>
                  <a:lnTo>
                    <a:pt x="7992364" y="3399663"/>
                  </a:lnTo>
                  <a:lnTo>
                    <a:pt x="7998714" y="3399663"/>
                  </a:lnTo>
                  <a:cubicBezTo>
                    <a:pt x="7998714" y="3493770"/>
                    <a:pt x="7922387" y="3569970"/>
                    <a:pt x="7828153" y="3569970"/>
                  </a:cubicBezTo>
                  <a:lnTo>
                    <a:pt x="7828153" y="3563620"/>
                  </a:lnTo>
                  <a:lnTo>
                    <a:pt x="7828153" y="3569970"/>
                  </a:lnTo>
                  <a:lnTo>
                    <a:pt x="170561" y="3569970"/>
                  </a:lnTo>
                  <a:lnTo>
                    <a:pt x="170561" y="3563620"/>
                  </a:lnTo>
                  <a:lnTo>
                    <a:pt x="170561" y="3569970"/>
                  </a:lnTo>
                  <a:cubicBezTo>
                    <a:pt x="76327" y="3569970"/>
                    <a:pt x="0" y="3493770"/>
                    <a:pt x="0" y="3399663"/>
                  </a:cubicBezTo>
                  <a:lnTo>
                    <a:pt x="0" y="170307"/>
                  </a:lnTo>
                  <a:lnTo>
                    <a:pt x="6350" y="170307"/>
                  </a:lnTo>
                  <a:lnTo>
                    <a:pt x="0" y="170307"/>
                  </a:lnTo>
                  <a:moveTo>
                    <a:pt x="12700" y="170307"/>
                  </a:moveTo>
                  <a:lnTo>
                    <a:pt x="12700" y="3399663"/>
                  </a:lnTo>
                  <a:lnTo>
                    <a:pt x="6350" y="3399663"/>
                  </a:lnTo>
                  <a:lnTo>
                    <a:pt x="12700" y="3399663"/>
                  </a:lnTo>
                  <a:cubicBezTo>
                    <a:pt x="12700" y="3486658"/>
                    <a:pt x="83439" y="3557270"/>
                    <a:pt x="170561" y="3557270"/>
                  </a:cubicBezTo>
                  <a:lnTo>
                    <a:pt x="7828153" y="3557270"/>
                  </a:lnTo>
                  <a:cubicBezTo>
                    <a:pt x="7915402" y="3557270"/>
                    <a:pt x="7986014" y="3486658"/>
                    <a:pt x="7986014" y="3399663"/>
                  </a:cubicBezTo>
                  <a:lnTo>
                    <a:pt x="7986014" y="170307"/>
                  </a:lnTo>
                  <a:cubicBezTo>
                    <a:pt x="7986014" y="83312"/>
                    <a:pt x="7915402" y="12700"/>
                    <a:pt x="7828153" y="12700"/>
                  </a:cubicBezTo>
                  <a:lnTo>
                    <a:pt x="170561" y="12700"/>
                  </a:lnTo>
                  <a:lnTo>
                    <a:pt x="170561" y="6350"/>
                  </a:lnTo>
                  <a:lnTo>
                    <a:pt x="170561" y="12700"/>
                  </a:lnTo>
                  <a:cubicBezTo>
                    <a:pt x="83439" y="12700"/>
                    <a:pt x="12700" y="83312"/>
                    <a:pt x="12700" y="170307"/>
                  </a:cubicBezTo>
                  <a:close/>
                </a:path>
              </a:pathLst>
            </a:custGeom>
            <a:solidFill>
              <a:srgbClr val="DFB8BC"/>
            </a:solidFill>
          </p:spPr>
        </p:sp>
      </p:grpSp>
      <p:sp>
        <p:nvSpPr>
          <p:cNvPr name="TextBox 19" id="19"/>
          <p:cNvSpPr txBox="true"/>
          <p:nvPr/>
        </p:nvSpPr>
        <p:spPr>
          <a:xfrm rot="0">
            <a:off x="10477595" y="5395170"/>
            <a:ext cx="926902" cy="441325"/>
          </a:xfrm>
          <a:prstGeom prst="rect">
            <a:avLst/>
          </a:prstGeom>
        </p:spPr>
        <p:txBody>
          <a:bodyPr anchor="t" rtlCol="false" tIns="0" lIns="0" bIns="0" rIns="0">
            <a:spAutoFit/>
          </a:bodyPr>
          <a:lstStyle/>
          <a:p>
            <a:pPr algn="l">
              <a:lnSpc>
                <a:spcPts val="3500"/>
              </a:lnSpc>
            </a:pPr>
            <a:r>
              <a:rPr lang="en-US" b="true" sz="2750">
                <a:solidFill>
                  <a:srgbClr val="365B6D"/>
                </a:solidFill>
                <a:latin typeface="Barlow Semi-Bold"/>
                <a:ea typeface="Barlow Semi-Bold"/>
                <a:cs typeface="Barlow Semi-Bold"/>
                <a:sym typeface="Barlow Semi-Bold"/>
              </a:rPr>
              <a:t>How ?</a:t>
            </a:r>
          </a:p>
        </p:txBody>
      </p:sp>
      <p:sp>
        <p:nvSpPr>
          <p:cNvPr name="TextBox 20" id="20"/>
          <p:cNvSpPr txBox="true"/>
          <p:nvPr/>
        </p:nvSpPr>
        <p:spPr>
          <a:xfrm rot="0">
            <a:off x="10477595" y="5955211"/>
            <a:ext cx="5495401" cy="8096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 Save Cost</a:t>
            </a:r>
          </a:p>
          <a:p>
            <a:pPr algn="l">
              <a:lnSpc>
                <a:spcPts val="3374"/>
              </a:lnSpc>
            </a:pPr>
            <a:r>
              <a:rPr lang="en-US" sz="2124" spc="8">
                <a:solidFill>
                  <a:srgbClr val="365B6D"/>
                </a:solidFill>
                <a:latin typeface="Barlow"/>
                <a:ea typeface="Barlow"/>
                <a:cs typeface="Barlow"/>
                <a:sym typeface="Barlow"/>
              </a:rPr>
              <a:t>- Auto Notify Patients on all Med’s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947890" y="1416396"/>
            <a:ext cx="9136931" cy="882650"/>
          </a:xfrm>
          <a:prstGeom prst="rect">
            <a:avLst/>
          </a:prstGeom>
        </p:spPr>
        <p:txBody>
          <a:bodyPr anchor="t" rtlCol="false" tIns="0" lIns="0" bIns="0" rIns="0">
            <a:spAutoFit/>
          </a:bodyPr>
          <a:lstStyle/>
          <a:p>
            <a:pPr algn="l">
              <a:lnSpc>
                <a:spcPts val="7000"/>
              </a:lnSpc>
            </a:pPr>
            <a:r>
              <a:rPr lang="en-US" b="true" sz="5562">
                <a:solidFill>
                  <a:srgbClr val="6C9286"/>
                </a:solidFill>
                <a:latin typeface="Barlow Bold"/>
                <a:ea typeface="Barlow Bold"/>
                <a:cs typeface="Barlow Bold"/>
                <a:sym typeface="Barlow Bold"/>
              </a:rPr>
              <a:t>The Problem RxAssist Solves</a:t>
            </a:r>
          </a:p>
        </p:txBody>
      </p:sp>
      <p:sp>
        <p:nvSpPr>
          <p:cNvPr name="TextBox 3" id="3"/>
          <p:cNvSpPr txBox="true"/>
          <p:nvPr/>
        </p:nvSpPr>
        <p:spPr>
          <a:xfrm rot="0">
            <a:off x="947890" y="2810770"/>
            <a:ext cx="16392230" cy="8096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Even when a provider knows exactly which medication a patient needs, operational barriers slow treatment down. Coverage workflows are fragmented across disconnected tools and manual lookups. </a:t>
            </a:r>
          </a:p>
        </p:txBody>
      </p:sp>
      <p:grpSp>
        <p:nvGrpSpPr>
          <p:cNvPr name="Group 4" id="4"/>
          <p:cNvGrpSpPr/>
          <p:nvPr/>
        </p:nvGrpSpPr>
        <p:grpSpPr>
          <a:xfrm rot="0">
            <a:off x="943127" y="4053630"/>
            <a:ext cx="8070209" cy="2044456"/>
            <a:chOff x="0" y="0"/>
            <a:chExt cx="10760278" cy="2725941"/>
          </a:xfrm>
        </p:grpSpPr>
        <p:sp>
          <p:nvSpPr>
            <p:cNvPr name="Freeform 5" id="5"/>
            <p:cNvSpPr/>
            <p:nvPr/>
          </p:nvSpPr>
          <p:spPr>
            <a:xfrm flipH="false" flipV="false" rot="0">
              <a:off x="6350" y="6350"/>
              <a:ext cx="10747502" cy="2713228"/>
            </a:xfrm>
            <a:custGeom>
              <a:avLst/>
              <a:gdLst/>
              <a:ahLst/>
              <a:cxnLst/>
              <a:rect r="r" b="b" t="t" l="l"/>
              <a:pathLst>
                <a:path h="2713228" w="10747502">
                  <a:moveTo>
                    <a:pt x="0" y="151638"/>
                  </a:moveTo>
                  <a:cubicBezTo>
                    <a:pt x="0" y="67945"/>
                    <a:pt x="68199" y="0"/>
                    <a:pt x="152146" y="0"/>
                  </a:cubicBezTo>
                  <a:lnTo>
                    <a:pt x="10595356" y="0"/>
                  </a:lnTo>
                  <a:cubicBezTo>
                    <a:pt x="10679430" y="0"/>
                    <a:pt x="10747502" y="67945"/>
                    <a:pt x="10747502" y="151638"/>
                  </a:cubicBezTo>
                  <a:lnTo>
                    <a:pt x="10747502" y="2561590"/>
                  </a:lnTo>
                  <a:cubicBezTo>
                    <a:pt x="10747502" y="2645410"/>
                    <a:pt x="10679303" y="2713228"/>
                    <a:pt x="10595356" y="2713228"/>
                  </a:cubicBezTo>
                  <a:lnTo>
                    <a:pt x="152146" y="2713228"/>
                  </a:lnTo>
                  <a:cubicBezTo>
                    <a:pt x="68199" y="2713228"/>
                    <a:pt x="0" y="2645283"/>
                    <a:pt x="0" y="2561590"/>
                  </a:cubicBezTo>
                  <a:close/>
                </a:path>
              </a:pathLst>
            </a:custGeom>
            <a:solidFill>
              <a:srgbClr val="F9D2D6"/>
            </a:solidFill>
          </p:spPr>
        </p:sp>
        <p:sp>
          <p:nvSpPr>
            <p:cNvPr name="Freeform 6" id="6"/>
            <p:cNvSpPr/>
            <p:nvPr/>
          </p:nvSpPr>
          <p:spPr>
            <a:xfrm flipH="false" flipV="false" rot="0">
              <a:off x="0" y="0"/>
              <a:ext cx="10760202" cy="2725928"/>
            </a:xfrm>
            <a:custGeom>
              <a:avLst/>
              <a:gdLst/>
              <a:ahLst/>
              <a:cxnLst/>
              <a:rect r="r" b="b" t="t" l="l"/>
              <a:pathLst>
                <a:path h="2725928" w="10760202">
                  <a:moveTo>
                    <a:pt x="0" y="157988"/>
                  </a:moveTo>
                  <a:cubicBezTo>
                    <a:pt x="0" y="70739"/>
                    <a:pt x="70993" y="0"/>
                    <a:pt x="158496" y="0"/>
                  </a:cubicBezTo>
                  <a:lnTo>
                    <a:pt x="10601706" y="0"/>
                  </a:lnTo>
                  <a:lnTo>
                    <a:pt x="10601706" y="6350"/>
                  </a:lnTo>
                  <a:lnTo>
                    <a:pt x="10601706" y="0"/>
                  </a:lnTo>
                  <a:cubicBezTo>
                    <a:pt x="10689209" y="0"/>
                    <a:pt x="10760202" y="70739"/>
                    <a:pt x="10760202" y="157988"/>
                  </a:cubicBezTo>
                  <a:lnTo>
                    <a:pt x="10753852" y="157988"/>
                  </a:lnTo>
                  <a:lnTo>
                    <a:pt x="10760202" y="157988"/>
                  </a:lnTo>
                  <a:lnTo>
                    <a:pt x="10760202" y="2567940"/>
                  </a:lnTo>
                  <a:lnTo>
                    <a:pt x="10753852" y="2567940"/>
                  </a:lnTo>
                  <a:lnTo>
                    <a:pt x="10760202" y="2567940"/>
                  </a:lnTo>
                  <a:cubicBezTo>
                    <a:pt x="10760202" y="2655189"/>
                    <a:pt x="10689209" y="2725928"/>
                    <a:pt x="10601706" y="2725928"/>
                  </a:cubicBezTo>
                  <a:lnTo>
                    <a:pt x="10601706" y="2719578"/>
                  </a:lnTo>
                  <a:lnTo>
                    <a:pt x="10601706" y="2725928"/>
                  </a:lnTo>
                  <a:lnTo>
                    <a:pt x="158496" y="2725928"/>
                  </a:lnTo>
                  <a:lnTo>
                    <a:pt x="158496" y="2719578"/>
                  </a:lnTo>
                  <a:lnTo>
                    <a:pt x="158496" y="2725928"/>
                  </a:lnTo>
                  <a:cubicBezTo>
                    <a:pt x="70993" y="2725928"/>
                    <a:pt x="0" y="2655189"/>
                    <a:pt x="0" y="2567940"/>
                  </a:cubicBezTo>
                  <a:lnTo>
                    <a:pt x="0" y="157988"/>
                  </a:lnTo>
                  <a:lnTo>
                    <a:pt x="6350" y="157988"/>
                  </a:lnTo>
                  <a:lnTo>
                    <a:pt x="0" y="157988"/>
                  </a:lnTo>
                  <a:moveTo>
                    <a:pt x="12700" y="157988"/>
                  </a:moveTo>
                  <a:lnTo>
                    <a:pt x="12700" y="2567940"/>
                  </a:lnTo>
                  <a:lnTo>
                    <a:pt x="6350" y="2567940"/>
                  </a:lnTo>
                  <a:lnTo>
                    <a:pt x="12700" y="2567940"/>
                  </a:lnTo>
                  <a:cubicBezTo>
                    <a:pt x="12700" y="2648204"/>
                    <a:pt x="77978" y="2713228"/>
                    <a:pt x="158496" y="2713228"/>
                  </a:cubicBezTo>
                  <a:lnTo>
                    <a:pt x="10601706" y="2713228"/>
                  </a:lnTo>
                  <a:cubicBezTo>
                    <a:pt x="10682224" y="2713228"/>
                    <a:pt x="10747502" y="2648204"/>
                    <a:pt x="10747502" y="2567940"/>
                  </a:cubicBezTo>
                  <a:lnTo>
                    <a:pt x="10747502" y="157988"/>
                  </a:lnTo>
                  <a:cubicBezTo>
                    <a:pt x="10747629" y="77724"/>
                    <a:pt x="10682351" y="12700"/>
                    <a:pt x="10601706" y="12700"/>
                  </a:cubicBezTo>
                  <a:lnTo>
                    <a:pt x="158496" y="12700"/>
                  </a:lnTo>
                  <a:lnTo>
                    <a:pt x="158496" y="6350"/>
                  </a:lnTo>
                  <a:lnTo>
                    <a:pt x="158496" y="12700"/>
                  </a:lnTo>
                  <a:cubicBezTo>
                    <a:pt x="77978" y="12700"/>
                    <a:pt x="12700" y="77724"/>
                    <a:pt x="12700" y="157988"/>
                  </a:cubicBezTo>
                  <a:close/>
                </a:path>
              </a:pathLst>
            </a:custGeom>
            <a:solidFill>
              <a:srgbClr val="DFB8BC"/>
            </a:solidFill>
          </p:spPr>
        </p:sp>
      </p:grpSp>
      <p:sp>
        <p:nvSpPr>
          <p:cNvPr name="TextBox 7" id="7"/>
          <p:cNvSpPr txBox="true"/>
          <p:nvPr/>
        </p:nvSpPr>
        <p:spPr>
          <a:xfrm rot="0">
            <a:off x="1228134" y="4310063"/>
            <a:ext cx="4295998" cy="441325"/>
          </a:xfrm>
          <a:prstGeom prst="rect">
            <a:avLst/>
          </a:prstGeom>
        </p:spPr>
        <p:txBody>
          <a:bodyPr anchor="t" rtlCol="false" tIns="0" lIns="0" bIns="0" rIns="0">
            <a:spAutoFit/>
          </a:bodyPr>
          <a:lstStyle/>
          <a:p>
            <a:pPr algn="l">
              <a:lnSpc>
                <a:spcPts val="3500"/>
              </a:lnSpc>
            </a:pPr>
            <a:r>
              <a:rPr lang="en-US" b="true" sz="2750">
                <a:solidFill>
                  <a:srgbClr val="365B6D"/>
                </a:solidFill>
                <a:latin typeface="Barlow Semi-Bold"/>
                <a:ea typeface="Barlow Semi-Bold"/>
                <a:cs typeface="Barlow Semi-Bold"/>
                <a:sym typeface="Barlow Semi-Bold"/>
              </a:rPr>
              <a:t>Is the drug in the formulary?</a:t>
            </a:r>
          </a:p>
        </p:txBody>
      </p:sp>
      <p:sp>
        <p:nvSpPr>
          <p:cNvPr name="TextBox 8" id="8"/>
          <p:cNvSpPr txBox="true"/>
          <p:nvPr/>
        </p:nvSpPr>
        <p:spPr>
          <a:xfrm rot="0">
            <a:off x="1228134" y="4870104"/>
            <a:ext cx="7500195" cy="8096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No unified lookup - staff bounce between payer portals and internal spreadsheets.</a:t>
            </a:r>
          </a:p>
        </p:txBody>
      </p:sp>
      <p:grpSp>
        <p:nvGrpSpPr>
          <p:cNvPr name="Group 9" id="9"/>
          <p:cNvGrpSpPr/>
          <p:nvPr/>
        </p:nvGrpSpPr>
        <p:grpSpPr>
          <a:xfrm rot="0">
            <a:off x="9274521" y="4053630"/>
            <a:ext cx="8070352" cy="2044456"/>
            <a:chOff x="0" y="0"/>
            <a:chExt cx="10760469" cy="2725941"/>
          </a:xfrm>
        </p:grpSpPr>
        <p:sp>
          <p:nvSpPr>
            <p:cNvPr name="Freeform 10" id="10"/>
            <p:cNvSpPr/>
            <p:nvPr/>
          </p:nvSpPr>
          <p:spPr>
            <a:xfrm flipH="false" flipV="false" rot="0">
              <a:off x="6350" y="6350"/>
              <a:ext cx="10747756" cy="2713228"/>
            </a:xfrm>
            <a:custGeom>
              <a:avLst/>
              <a:gdLst/>
              <a:ahLst/>
              <a:cxnLst/>
              <a:rect r="r" b="b" t="t" l="l"/>
              <a:pathLst>
                <a:path h="2713228" w="10747756">
                  <a:moveTo>
                    <a:pt x="0" y="151638"/>
                  </a:moveTo>
                  <a:cubicBezTo>
                    <a:pt x="0" y="67945"/>
                    <a:pt x="68199" y="0"/>
                    <a:pt x="152146" y="0"/>
                  </a:cubicBezTo>
                  <a:lnTo>
                    <a:pt x="10595610" y="0"/>
                  </a:lnTo>
                  <a:cubicBezTo>
                    <a:pt x="10679684" y="0"/>
                    <a:pt x="10747756" y="67945"/>
                    <a:pt x="10747756" y="151638"/>
                  </a:cubicBezTo>
                  <a:lnTo>
                    <a:pt x="10747756" y="2561590"/>
                  </a:lnTo>
                  <a:cubicBezTo>
                    <a:pt x="10747756" y="2645410"/>
                    <a:pt x="10679557" y="2713228"/>
                    <a:pt x="10595610" y="2713228"/>
                  </a:cubicBezTo>
                  <a:lnTo>
                    <a:pt x="152146" y="2713228"/>
                  </a:lnTo>
                  <a:cubicBezTo>
                    <a:pt x="68199" y="2713228"/>
                    <a:pt x="0" y="2645283"/>
                    <a:pt x="0" y="2561590"/>
                  </a:cubicBezTo>
                  <a:close/>
                </a:path>
              </a:pathLst>
            </a:custGeom>
            <a:solidFill>
              <a:srgbClr val="F9D2D6"/>
            </a:solidFill>
          </p:spPr>
        </p:sp>
        <p:sp>
          <p:nvSpPr>
            <p:cNvPr name="Freeform 11" id="11"/>
            <p:cNvSpPr/>
            <p:nvPr/>
          </p:nvSpPr>
          <p:spPr>
            <a:xfrm flipH="false" flipV="false" rot="0">
              <a:off x="0" y="0"/>
              <a:ext cx="10760456" cy="2725928"/>
            </a:xfrm>
            <a:custGeom>
              <a:avLst/>
              <a:gdLst/>
              <a:ahLst/>
              <a:cxnLst/>
              <a:rect r="r" b="b" t="t" l="l"/>
              <a:pathLst>
                <a:path h="2725928" w="10760456">
                  <a:moveTo>
                    <a:pt x="0" y="157988"/>
                  </a:moveTo>
                  <a:cubicBezTo>
                    <a:pt x="0" y="70739"/>
                    <a:pt x="70993" y="0"/>
                    <a:pt x="158496" y="0"/>
                  </a:cubicBezTo>
                  <a:lnTo>
                    <a:pt x="10601960" y="0"/>
                  </a:lnTo>
                  <a:lnTo>
                    <a:pt x="10601960" y="6350"/>
                  </a:lnTo>
                  <a:lnTo>
                    <a:pt x="10601960" y="0"/>
                  </a:lnTo>
                  <a:cubicBezTo>
                    <a:pt x="10689463" y="0"/>
                    <a:pt x="10760456" y="70739"/>
                    <a:pt x="10760456" y="157988"/>
                  </a:cubicBezTo>
                  <a:lnTo>
                    <a:pt x="10754106" y="157988"/>
                  </a:lnTo>
                  <a:lnTo>
                    <a:pt x="10760456" y="157988"/>
                  </a:lnTo>
                  <a:lnTo>
                    <a:pt x="10760456" y="2567940"/>
                  </a:lnTo>
                  <a:lnTo>
                    <a:pt x="10754106" y="2567940"/>
                  </a:lnTo>
                  <a:lnTo>
                    <a:pt x="10760456" y="2567940"/>
                  </a:lnTo>
                  <a:cubicBezTo>
                    <a:pt x="10760456" y="2655189"/>
                    <a:pt x="10689463" y="2725928"/>
                    <a:pt x="10601960" y="2725928"/>
                  </a:cubicBezTo>
                  <a:lnTo>
                    <a:pt x="10601960" y="2719578"/>
                  </a:lnTo>
                  <a:lnTo>
                    <a:pt x="10601960" y="2725928"/>
                  </a:lnTo>
                  <a:lnTo>
                    <a:pt x="158496" y="2725928"/>
                  </a:lnTo>
                  <a:lnTo>
                    <a:pt x="158496" y="2719578"/>
                  </a:lnTo>
                  <a:lnTo>
                    <a:pt x="158496" y="2725928"/>
                  </a:lnTo>
                  <a:cubicBezTo>
                    <a:pt x="70993" y="2725928"/>
                    <a:pt x="0" y="2655189"/>
                    <a:pt x="0" y="2567940"/>
                  </a:cubicBezTo>
                  <a:lnTo>
                    <a:pt x="0" y="157988"/>
                  </a:lnTo>
                  <a:lnTo>
                    <a:pt x="6350" y="157988"/>
                  </a:lnTo>
                  <a:lnTo>
                    <a:pt x="0" y="157988"/>
                  </a:lnTo>
                  <a:moveTo>
                    <a:pt x="12700" y="157988"/>
                  </a:moveTo>
                  <a:lnTo>
                    <a:pt x="12700" y="2567940"/>
                  </a:lnTo>
                  <a:lnTo>
                    <a:pt x="6350" y="2567940"/>
                  </a:lnTo>
                  <a:lnTo>
                    <a:pt x="12700" y="2567940"/>
                  </a:lnTo>
                  <a:cubicBezTo>
                    <a:pt x="12700" y="2648204"/>
                    <a:pt x="77978" y="2713228"/>
                    <a:pt x="158496" y="2713228"/>
                  </a:cubicBezTo>
                  <a:lnTo>
                    <a:pt x="10601960" y="2713228"/>
                  </a:lnTo>
                  <a:cubicBezTo>
                    <a:pt x="10682478" y="2713228"/>
                    <a:pt x="10747756" y="2648204"/>
                    <a:pt x="10747756" y="2567940"/>
                  </a:cubicBezTo>
                  <a:lnTo>
                    <a:pt x="10747756" y="157988"/>
                  </a:lnTo>
                  <a:cubicBezTo>
                    <a:pt x="10747756" y="77724"/>
                    <a:pt x="10682478" y="12700"/>
                    <a:pt x="10601960" y="12700"/>
                  </a:cubicBezTo>
                  <a:lnTo>
                    <a:pt x="158496" y="12700"/>
                  </a:lnTo>
                  <a:lnTo>
                    <a:pt x="158496" y="6350"/>
                  </a:lnTo>
                  <a:lnTo>
                    <a:pt x="158496" y="12700"/>
                  </a:lnTo>
                  <a:cubicBezTo>
                    <a:pt x="77978" y="12700"/>
                    <a:pt x="12700" y="77724"/>
                    <a:pt x="12700" y="157988"/>
                  </a:cubicBezTo>
                  <a:close/>
                </a:path>
              </a:pathLst>
            </a:custGeom>
            <a:solidFill>
              <a:srgbClr val="DFB8BC"/>
            </a:solidFill>
          </p:spPr>
        </p:sp>
      </p:grpSp>
      <p:sp>
        <p:nvSpPr>
          <p:cNvPr name="TextBox 12" id="12"/>
          <p:cNvSpPr txBox="true"/>
          <p:nvPr/>
        </p:nvSpPr>
        <p:spPr>
          <a:xfrm rot="0">
            <a:off x="9559528" y="4310063"/>
            <a:ext cx="2668563" cy="441325"/>
          </a:xfrm>
          <a:prstGeom prst="rect">
            <a:avLst/>
          </a:prstGeom>
        </p:spPr>
        <p:txBody>
          <a:bodyPr anchor="t" rtlCol="false" tIns="0" lIns="0" bIns="0" rIns="0">
            <a:spAutoFit/>
          </a:bodyPr>
          <a:lstStyle/>
          <a:p>
            <a:pPr algn="l">
              <a:lnSpc>
                <a:spcPts val="3500"/>
              </a:lnSpc>
            </a:pPr>
            <a:r>
              <a:rPr lang="en-US" b="true" sz="2750">
                <a:solidFill>
                  <a:srgbClr val="365B6D"/>
                </a:solidFill>
                <a:latin typeface="Barlow Semi-Bold"/>
                <a:ea typeface="Barlow Semi-Bold"/>
                <a:cs typeface="Barlow Semi-Bold"/>
                <a:sym typeface="Barlow Semi-Bold"/>
              </a:rPr>
              <a:t>What tier is it on?</a:t>
            </a:r>
          </a:p>
        </p:txBody>
      </p:sp>
      <p:sp>
        <p:nvSpPr>
          <p:cNvPr name="TextBox 13" id="13"/>
          <p:cNvSpPr txBox="true"/>
          <p:nvPr/>
        </p:nvSpPr>
        <p:spPr>
          <a:xfrm rot="0">
            <a:off x="9559528" y="4870104"/>
            <a:ext cx="7500347" cy="8096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Tier placement directly determines patient cost, but it changes without notice.</a:t>
            </a:r>
          </a:p>
        </p:txBody>
      </p:sp>
      <p:grpSp>
        <p:nvGrpSpPr>
          <p:cNvPr name="Group 14" id="14"/>
          <p:cNvGrpSpPr/>
          <p:nvPr/>
        </p:nvGrpSpPr>
        <p:grpSpPr>
          <a:xfrm rot="0">
            <a:off x="943127" y="6359281"/>
            <a:ext cx="8070209" cy="2477843"/>
            <a:chOff x="0" y="0"/>
            <a:chExt cx="10760278" cy="3303791"/>
          </a:xfrm>
        </p:grpSpPr>
        <p:sp>
          <p:nvSpPr>
            <p:cNvPr name="Freeform 15" id="15"/>
            <p:cNvSpPr/>
            <p:nvPr/>
          </p:nvSpPr>
          <p:spPr>
            <a:xfrm flipH="false" flipV="false" rot="0">
              <a:off x="6350" y="6350"/>
              <a:ext cx="10747501" cy="3291078"/>
            </a:xfrm>
            <a:custGeom>
              <a:avLst/>
              <a:gdLst/>
              <a:ahLst/>
              <a:cxnLst/>
              <a:rect r="r" b="b" t="t" l="l"/>
              <a:pathLst>
                <a:path h="3291078" w="10747501">
                  <a:moveTo>
                    <a:pt x="0" y="151638"/>
                  </a:moveTo>
                  <a:cubicBezTo>
                    <a:pt x="0" y="67945"/>
                    <a:pt x="68072" y="0"/>
                    <a:pt x="152019" y="0"/>
                  </a:cubicBezTo>
                  <a:lnTo>
                    <a:pt x="10595483" y="0"/>
                  </a:lnTo>
                  <a:cubicBezTo>
                    <a:pt x="10679430" y="0"/>
                    <a:pt x="10747501" y="67945"/>
                    <a:pt x="10747501" y="151638"/>
                  </a:cubicBezTo>
                  <a:lnTo>
                    <a:pt x="10747501" y="3139440"/>
                  </a:lnTo>
                  <a:cubicBezTo>
                    <a:pt x="10747501" y="3223133"/>
                    <a:pt x="10679430" y="3291078"/>
                    <a:pt x="10595483" y="3291078"/>
                  </a:cubicBezTo>
                  <a:lnTo>
                    <a:pt x="152019" y="3291078"/>
                  </a:lnTo>
                  <a:cubicBezTo>
                    <a:pt x="68072" y="3291078"/>
                    <a:pt x="0" y="3223133"/>
                    <a:pt x="0" y="3139440"/>
                  </a:cubicBezTo>
                  <a:close/>
                </a:path>
              </a:pathLst>
            </a:custGeom>
            <a:solidFill>
              <a:srgbClr val="F9D2D6"/>
            </a:solidFill>
          </p:spPr>
        </p:sp>
        <p:sp>
          <p:nvSpPr>
            <p:cNvPr name="Freeform 16" id="16"/>
            <p:cNvSpPr/>
            <p:nvPr/>
          </p:nvSpPr>
          <p:spPr>
            <a:xfrm flipH="false" flipV="false" rot="0">
              <a:off x="0" y="0"/>
              <a:ext cx="10760201" cy="3303778"/>
            </a:xfrm>
            <a:custGeom>
              <a:avLst/>
              <a:gdLst/>
              <a:ahLst/>
              <a:cxnLst/>
              <a:rect r="r" b="b" t="t" l="l"/>
              <a:pathLst>
                <a:path h="3303778" w="10760201">
                  <a:moveTo>
                    <a:pt x="0" y="157988"/>
                  </a:moveTo>
                  <a:cubicBezTo>
                    <a:pt x="0" y="70739"/>
                    <a:pt x="70993" y="0"/>
                    <a:pt x="158369" y="0"/>
                  </a:cubicBezTo>
                  <a:lnTo>
                    <a:pt x="10601833" y="0"/>
                  </a:lnTo>
                  <a:lnTo>
                    <a:pt x="10601833" y="6350"/>
                  </a:lnTo>
                  <a:lnTo>
                    <a:pt x="10601833" y="0"/>
                  </a:lnTo>
                  <a:cubicBezTo>
                    <a:pt x="10689336" y="0"/>
                    <a:pt x="10760201" y="70739"/>
                    <a:pt x="10760201" y="157988"/>
                  </a:cubicBezTo>
                  <a:lnTo>
                    <a:pt x="10753851" y="157988"/>
                  </a:lnTo>
                  <a:lnTo>
                    <a:pt x="10760201" y="157988"/>
                  </a:lnTo>
                  <a:lnTo>
                    <a:pt x="10760201" y="3145790"/>
                  </a:lnTo>
                  <a:lnTo>
                    <a:pt x="10753851" y="3145790"/>
                  </a:lnTo>
                  <a:lnTo>
                    <a:pt x="10760201" y="3145790"/>
                  </a:lnTo>
                  <a:cubicBezTo>
                    <a:pt x="10760201" y="3233039"/>
                    <a:pt x="10689209" y="3303778"/>
                    <a:pt x="10601833" y="3303778"/>
                  </a:cubicBezTo>
                  <a:lnTo>
                    <a:pt x="10601833" y="3297428"/>
                  </a:lnTo>
                  <a:lnTo>
                    <a:pt x="10601833" y="3303778"/>
                  </a:lnTo>
                  <a:lnTo>
                    <a:pt x="158369" y="3303778"/>
                  </a:lnTo>
                  <a:lnTo>
                    <a:pt x="158369" y="3297428"/>
                  </a:lnTo>
                  <a:lnTo>
                    <a:pt x="158369" y="3303778"/>
                  </a:lnTo>
                  <a:cubicBezTo>
                    <a:pt x="70993" y="3303778"/>
                    <a:pt x="0" y="3233039"/>
                    <a:pt x="0" y="3145790"/>
                  </a:cubicBezTo>
                  <a:lnTo>
                    <a:pt x="0" y="157988"/>
                  </a:lnTo>
                  <a:lnTo>
                    <a:pt x="6350" y="157988"/>
                  </a:lnTo>
                  <a:lnTo>
                    <a:pt x="0" y="157988"/>
                  </a:lnTo>
                  <a:moveTo>
                    <a:pt x="12700" y="157988"/>
                  </a:moveTo>
                  <a:lnTo>
                    <a:pt x="12700" y="3145790"/>
                  </a:lnTo>
                  <a:lnTo>
                    <a:pt x="6350" y="3145790"/>
                  </a:lnTo>
                  <a:lnTo>
                    <a:pt x="12700" y="3145790"/>
                  </a:lnTo>
                  <a:cubicBezTo>
                    <a:pt x="12700" y="3226054"/>
                    <a:pt x="77978" y="3291078"/>
                    <a:pt x="158369" y="3291078"/>
                  </a:cubicBezTo>
                  <a:lnTo>
                    <a:pt x="10601833" y="3291078"/>
                  </a:lnTo>
                  <a:cubicBezTo>
                    <a:pt x="10682351" y="3291078"/>
                    <a:pt x="10747501" y="3226054"/>
                    <a:pt x="10747501" y="3145790"/>
                  </a:cubicBezTo>
                  <a:lnTo>
                    <a:pt x="10747501" y="157988"/>
                  </a:lnTo>
                  <a:cubicBezTo>
                    <a:pt x="10747629" y="77724"/>
                    <a:pt x="10682351" y="12700"/>
                    <a:pt x="10601833" y="12700"/>
                  </a:cubicBezTo>
                  <a:lnTo>
                    <a:pt x="158369" y="12700"/>
                  </a:lnTo>
                  <a:lnTo>
                    <a:pt x="158369" y="6350"/>
                  </a:lnTo>
                  <a:lnTo>
                    <a:pt x="158369" y="12700"/>
                  </a:lnTo>
                  <a:cubicBezTo>
                    <a:pt x="77978" y="12700"/>
                    <a:pt x="12700" y="77724"/>
                    <a:pt x="12700" y="157988"/>
                  </a:cubicBezTo>
                  <a:close/>
                </a:path>
              </a:pathLst>
            </a:custGeom>
            <a:solidFill>
              <a:srgbClr val="DFB8BC"/>
            </a:solidFill>
          </p:spPr>
        </p:sp>
      </p:grpSp>
      <p:sp>
        <p:nvSpPr>
          <p:cNvPr name="TextBox 17" id="17"/>
          <p:cNvSpPr txBox="true"/>
          <p:nvPr/>
        </p:nvSpPr>
        <p:spPr>
          <a:xfrm rot="0">
            <a:off x="1228134" y="6615703"/>
            <a:ext cx="3392463" cy="441325"/>
          </a:xfrm>
          <a:prstGeom prst="rect">
            <a:avLst/>
          </a:prstGeom>
        </p:spPr>
        <p:txBody>
          <a:bodyPr anchor="t" rtlCol="false" tIns="0" lIns="0" bIns="0" rIns="0">
            <a:spAutoFit/>
          </a:bodyPr>
          <a:lstStyle/>
          <a:p>
            <a:pPr algn="l">
              <a:lnSpc>
                <a:spcPts val="3500"/>
              </a:lnSpc>
            </a:pPr>
            <a:r>
              <a:rPr lang="en-US" b="true" sz="2750">
                <a:solidFill>
                  <a:srgbClr val="365B6D"/>
                </a:solidFill>
                <a:latin typeface="Barlow Semi-Bold"/>
                <a:ea typeface="Barlow Semi-Bold"/>
                <a:cs typeface="Barlow Semi-Bold"/>
                <a:sym typeface="Barlow Semi-Bold"/>
              </a:rPr>
              <a:t>Is prior auth required?</a:t>
            </a:r>
          </a:p>
        </p:txBody>
      </p:sp>
      <p:sp>
        <p:nvSpPr>
          <p:cNvPr name="TextBox 18" id="18"/>
          <p:cNvSpPr txBox="true"/>
          <p:nvPr/>
        </p:nvSpPr>
        <p:spPr>
          <a:xfrm rot="0">
            <a:off x="1228134" y="7175744"/>
            <a:ext cx="7500195" cy="8096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PA, and quantity limits are buried in spreadsheets and plan-specific documents.</a:t>
            </a:r>
          </a:p>
        </p:txBody>
      </p:sp>
      <p:grpSp>
        <p:nvGrpSpPr>
          <p:cNvPr name="Group 19" id="19"/>
          <p:cNvGrpSpPr/>
          <p:nvPr/>
        </p:nvGrpSpPr>
        <p:grpSpPr>
          <a:xfrm rot="0">
            <a:off x="9274521" y="6359281"/>
            <a:ext cx="8070352" cy="2477843"/>
            <a:chOff x="0" y="0"/>
            <a:chExt cx="10760469" cy="3303791"/>
          </a:xfrm>
        </p:grpSpPr>
        <p:sp>
          <p:nvSpPr>
            <p:cNvPr name="Freeform 20" id="20"/>
            <p:cNvSpPr/>
            <p:nvPr/>
          </p:nvSpPr>
          <p:spPr>
            <a:xfrm flipH="false" flipV="false" rot="0">
              <a:off x="6350" y="6350"/>
              <a:ext cx="10747756" cy="3291078"/>
            </a:xfrm>
            <a:custGeom>
              <a:avLst/>
              <a:gdLst/>
              <a:ahLst/>
              <a:cxnLst/>
              <a:rect r="r" b="b" t="t" l="l"/>
              <a:pathLst>
                <a:path h="3291078" w="10747756">
                  <a:moveTo>
                    <a:pt x="0" y="151638"/>
                  </a:moveTo>
                  <a:cubicBezTo>
                    <a:pt x="0" y="67945"/>
                    <a:pt x="68072" y="0"/>
                    <a:pt x="152019" y="0"/>
                  </a:cubicBezTo>
                  <a:lnTo>
                    <a:pt x="10595737" y="0"/>
                  </a:lnTo>
                  <a:cubicBezTo>
                    <a:pt x="10679684" y="0"/>
                    <a:pt x="10747756" y="67945"/>
                    <a:pt x="10747756" y="151638"/>
                  </a:cubicBezTo>
                  <a:lnTo>
                    <a:pt x="10747756" y="3139440"/>
                  </a:lnTo>
                  <a:cubicBezTo>
                    <a:pt x="10747756" y="3223133"/>
                    <a:pt x="10679684" y="3291078"/>
                    <a:pt x="10595737" y="3291078"/>
                  </a:cubicBezTo>
                  <a:lnTo>
                    <a:pt x="152019" y="3291078"/>
                  </a:lnTo>
                  <a:cubicBezTo>
                    <a:pt x="68072" y="3291078"/>
                    <a:pt x="0" y="3223133"/>
                    <a:pt x="0" y="3139440"/>
                  </a:cubicBezTo>
                  <a:close/>
                </a:path>
              </a:pathLst>
            </a:custGeom>
            <a:solidFill>
              <a:srgbClr val="F9D2D6"/>
            </a:solidFill>
          </p:spPr>
        </p:sp>
        <p:sp>
          <p:nvSpPr>
            <p:cNvPr name="Freeform 21" id="21"/>
            <p:cNvSpPr/>
            <p:nvPr/>
          </p:nvSpPr>
          <p:spPr>
            <a:xfrm flipH="false" flipV="false" rot="0">
              <a:off x="0" y="0"/>
              <a:ext cx="10760456" cy="3303778"/>
            </a:xfrm>
            <a:custGeom>
              <a:avLst/>
              <a:gdLst/>
              <a:ahLst/>
              <a:cxnLst/>
              <a:rect r="r" b="b" t="t" l="l"/>
              <a:pathLst>
                <a:path h="3303778" w="10760456">
                  <a:moveTo>
                    <a:pt x="0" y="157988"/>
                  </a:moveTo>
                  <a:cubicBezTo>
                    <a:pt x="0" y="70739"/>
                    <a:pt x="70993" y="0"/>
                    <a:pt x="158369" y="0"/>
                  </a:cubicBezTo>
                  <a:lnTo>
                    <a:pt x="10602087" y="0"/>
                  </a:lnTo>
                  <a:lnTo>
                    <a:pt x="10602087" y="6350"/>
                  </a:lnTo>
                  <a:lnTo>
                    <a:pt x="10602087" y="0"/>
                  </a:lnTo>
                  <a:cubicBezTo>
                    <a:pt x="10689590" y="0"/>
                    <a:pt x="10760456" y="70739"/>
                    <a:pt x="10760456" y="157988"/>
                  </a:cubicBezTo>
                  <a:lnTo>
                    <a:pt x="10754106" y="157988"/>
                  </a:lnTo>
                  <a:lnTo>
                    <a:pt x="10760456" y="157988"/>
                  </a:lnTo>
                  <a:lnTo>
                    <a:pt x="10760456" y="3145790"/>
                  </a:lnTo>
                  <a:lnTo>
                    <a:pt x="10754106" y="3145790"/>
                  </a:lnTo>
                  <a:lnTo>
                    <a:pt x="10760456" y="3145790"/>
                  </a:lnTo>
                  <a:cubicBezTo>
                    <a:pt x="10760456" y="3233039"/>
                    <a:pt x="10689463" y="3303778"/>
                    <a:pt x="10602087" y="3303778"/>
                  </a:cubicBezTo>
                  <a:lnTo>
                    <a:pt x="10602087" y="3297428"/>
                  </a:lnTo>
                  <a:lnTo>
                    <a:pt x="10602087" y="3303778"/>
                  </a:lnTo>
                  <a:lnTo>
                    <a:pt x="158369" y="3303778"/>
                  </a:lnTo>
                  <a:lnTo>
                    <a:pt x="158369" y="3297428"/>
                  </a:lnTo>
                  <a:lnTo>
                    <a:pt x="158369" y="3303778"/>
                  </a:lnTo>
                  <a:cubicBezTo>
                    <a:pt x="70993" y="3303778"/>
                    <a:pt x="0" y="3233039"/>
                    <a:pt x="0" y="3145790"/>
                  </a:cubicBezTo>
                  <a:lnTo>
                    <a:pt x="0" y="157988"/>
                  </a:lnTo>
                  <a:lnTo>
                    <a:pt x="6350" y="157988"/>
                  </a:lnTo>
                  <a:lnTo>
                    <a:pt x="0" y="157988"/>
                  </a:lnTo>
                  <a:moveTo>
                    <a:pt x="12700" y="157988"/>
                  </a:moveTo>
                  <a:lnTo>
                    <a:pt x="12700" y="3145790"/>
                  </a:lnTo>
                  <a:lnTo>
                    <a:pt x="6350" y="3145790"/>
                  </a:lnTo>
                  <a:lnTo>
                    <a:pt x="12700" y="3145790"/>
                  </a:lnTo>
                  <a:cubicBezTo>
                    <a:pt x="12700" y="3226054"/>
                    <a:pt x="77978" y="3291078"/>
                    <a:pt x="158369" y="3291078"/>
                  </a:cubicBezTo>
                  <a:lnTo>
                    <a:pt x="10602087" y="3291078"/>
                  </a:lnTo>
                  <a:cubicBezTo>
                    <a:pt x="10682605" y="3291078"/>
                    <a:pt x="10747756" y="3226054"/>
                    <a:pt x="10747756" y="3145790"/>
                  </a:cubicBezTo>
                  <a:lnTo>
                    <a:pt x="10747756" y="157988"/>
                  </a:lnTo>
                  <a:cubicBezTo>
                    <a:pt x="10747756" y="77724"/>
                    <a:pt x="10682605" y="12700"/>
                    <a:pt x="10602087" y="12700"/>
                  </a:cubicBezTo>
                  <a:lnTo>
                    <a:pt x="158369" y="12700"/>
                  </a:lnTo>
                  <a:lnTo>
                    <a:pt x="158369" y="6350"/>
                  </a:lnTo>
                  <a:lnTo>
                    <a:pt x="158369" y="12700"/>
                  </a:lnTo>
                  <a:cubicBezTo>
                    <a:pt x="77978" y="12700"/>
                    <a:pt x="12700" y="77724"/>
                    <a:pt x="12700" y="157988"/>
                  </a:cubicBezTo>
                  <a:close/>
                </a:path>
              </a:pathLst>
            </a:custGeom>
            <a:solidFill>
              <a:srgbClr val="DFB8BC"/>
            </a:solidFill>
          </p:spPr>
        </p:sp>
      </p:grpSp>
      <p:sp>
        <p:nvSpPr>
          <p:cNvPr name="TextBox 22" id="22"/>
          <p:cNvSpPr txBox="true"/>
          <p:nvPr/>
        </p:nvSpPr>
        <p:spPr>
          <a:xfrm rot="0">
            <a:off x="9559528" y="6615703"/>
            <a:ext cx="4500637" cy="441325"/>
          </a:xfrm>
          <a:prstGeom prst="rect">
            <a:avLst/>
          </a:prstGeom>
        </p:spPr>
        <p:txBody>
          <a:bodyPr anchor="t" rtlCol="false" tIns="0" lIns="0" bIns="0" rIns="0">
            <a:spAutoFit/>
          </a:bodyPr>
          <a:lstStyle/>
          <a:p>
            <a:pPr algn="l">
              <a:lnSpc>
                <a:spcPts val="3500"/>
              </a:lnSpc>
            </a:pPr>
            <a:r>
              <a:rPr lang="en-US" b="true" sz="2750">
                <a:solidFill>
                  <a:srgbClr val="365B6D"/>
                </a:solidFill>
                <a:latin typeface="Barlow Semi-Bold"/>
                <a:ea typeface="Barlow Semi-Bold"/>
                <a:cs typeface="Barlow Semi-Bold"/>
                <a:sym typeface="Barlow Semi-Bold"/>
              </a:rPr>
              <a:t>What goes in the PA request?</a:t>
            </a:r>
          </a:p>
        </p:txBody>
      </p:sp>
      <p:sp>
        <p:nvSpPr>
          <p:cNvPr name="TextBox 23" id="23"/>
          <p:cNvSpPr txBox="true"/>
          <p:nvPr/>
        </p:nvSpPr>
        <p:spPr>
          <a:xfrm rot="0">
            <a:off x="9559528" y="7175744"/>
            <a:ext cx="7500347" cy="8096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Drafting takes time - clinical notes, diagnosis, failed therapies, plan identifiers. Reasonings for PAs are not the same.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65B6D"/>
        </a:solidFill>
      </p:bgPr>
    </p:bg>
    <p:spTree>
      <p:nvGrpSpPr>
        <p:cNvPr id="1" name=""/>
        <p:cNvGrpSpPr/>
        <p:nvPr/>
      </p:nvGrpSpPr>
      <p:grpSpPr>
        <a:xfrm>
          <a:off x="0" y="0"/>
          <a:ext cx="0" cy="0"/>
          <a:chOff x="0" y="0"/>
          <a:chExt cx="0" cy="0"/>
        </a:xfrm>
      </p:grpSpPr>
      <p:sp>
        <p:nvSpPr>
          <p:cNvPr name="TextBox 2" id="2"/>
          <p:cNvSpPr txBox="true"/>
          <p:nvPr/>
        </p:nvSpPr>
        <p:spPr>
          <a:xfrm rot="0">
            <a:off x="4332389" y="699535"/>
            <a:ext cx="8201844" cy="835025"/>
          </a:xfrm>
          <a:prstGeom prst="rect">
            <a:avLst/>
          </a:prstGeom>
        </p:spPr>
        <p:txBody>
          <a:bodyPr anchor="t" rtlCol="false" tIns="0" lIns="0" bIns="0" rIns="0">
            <a:spAutoFit/>
          </a:bodyPr>
          <a:lstStyle/>
          <a:p>
            <a:pPr algn="l">
              <a:lnSpc>
                <a:spcPts val="6624"/>
              </a:lnSpc>
            </a:pPr>
            <a:r>
              <a:rPr lang="en-US" b="true" sz="5312">
                <a:solidFill>
                  <a:srgbClr val="F2F1EC"/>
                </a:solidFill>
                <a:latin typeface="Barlow Bold"/>
                <a:ea typeface="Barlow Bold"/>
                <a:cs typeface="Barlow Bold"/>
                <a:sym typeface="Barlow Bold"/>
              </a:rPr>
              <a:t>How RxAssist Is Structured</a:t>
            </a:r>
          </a:p>
        </p:txBody>
      </p:sp>
      <p:sp>
        <p:nvSpPr>
          <p:cNvPr name="TextBox 3" id="3"/>
          <p:cNvSpPr txBox="true"/>
          <p:nvPr/>
        </p:nvSpPr>
        <p:spPr>
          <a:xfrm rot="0">
            <a:off x="4332389" y="1860394"/>
            <a:ext cx="9623222" cy="774700"/>
          </a:xfrm>
          <a:prstGeom prst="rect">
            <a:avLst/>
          </a:prstGeom>
        </p:spPr>
        <p:txBody>
          <a:bodyPr anchor="t" rtlCol="false" tIns="0" lIns="0" bIns="0" rIns="0">
            <a:spAutoFit/>
          </a:bodyPr>
          <a:lstStyle/>
          <a:p>
            <a:pPr algn="l">
              <a:lnSpc>
                <a:spcPts val="3125"/>
              </a:lnSpc>
            </a:pPr>
            <a:r>
              <a:rPr lang="en-US" sz="2000" spc="8">
                <a:solidFill>
                  <a:srgbClr val="F7F7F7"/>
                </a:solidFill>
                <a:latin typeface="Barlow"/>
                <a:ea typeface="Barlow"/>
                <a:cs typeface="Barlow"/>
                <a:sym typeface="Barlow"/>
              </a:rPr>
              <a:t>Three distinct layers, each with a clear, non-overlapping role - work together to take raw insurance data all the way to a provider-ready authorization draft.</a:t>
            </a:r>
          </a:p>
        </p:txBody>
      </p:sp>
      <p:grpSp>
        <p:nvGrpSpPr>
          <p:cNvPr name="Group 4" id="4"/>
          <p:cNvGrpSpPr/>
          <p:nvPr/>
        </p:nvGrpSpPr>
        <p:grpSpPr>
          <a:xfrm rot="0">
            <a:off x="4332389" y="3432315"/>
            <a:ext cx="1290638" cy="1894437"/>
            <a:chOff x="0" y="0"/>
            <a:chExt cx="1720850" cy="2525916"/>
          </a:xfrm>
        </p:grpSpPr>
        <p:sp>
          <p:nvSpPr>
            <p:cNvPr name="Freeform 5" id="5" descr="preencoded.png"/>
            <p:cNvSpPr/>
            <p:nvPr/>
          </p:nvSpPr>
          <p:spPr>
            <a:xfrm flipH="false" flipV="false" rot="0">
              <a:off x="0" y="0"/>
              <a:ext cx="1720850" cy="2525903"/>
            </a:xfrm>
            <a:custGeom>
              <a:avLst/>
              <a:gdLst/>
              <a:ahLst/>
              <a:cxnLst/>
              <a:rect r="r" b="b" t="t" l="l"/>
              <a:pathLst>
                <a:path h="2525903" w="1720850">
                  <a:moveTo>
                    <a:pt x="0" y="0"/>
                  </a:moveTo>
                  <a:lnTo>
                    <a:pt x="1720850" y="0"/>
                  </a:lnTo>
                  <a:lnTo>
                    <a:pt x="1720850" y="2525903"/>
                  </a:lnTo>
                  <a:lnTo>
                    <a:pt x="0" y="2525903"/>
                  </a:lnTo>
                  <a:lnTo>
                    <a:pt x="0" y="0"/>
                  </a:lnTo>
                  <a:close/>
                </a:path>
              </a:pathLst>
            </a:custGeom>
            <a:blipFill>
              <a:blip r:embed="rId2"/>
              <a:stretch>
                <a:fillRect l="-157" t="0" r="-156" b="0"/>
              </a:stretch>
            </a:blipFill>
          </p:spPr>
        </p:sp>
      </p:grpSp>
      <p:sp>
        <p:nvSpPr>
          <p:cNvPr name="TextBox 6" id="6"/>
          <p:cNvSpPr txBox="true"/>
          <p:nvPr/>
        </p:nvSpPr>
        <p:spPr>
          <a:xfrm rot="0">
            <a:off x="5869038" y="3671335"/>
            <a:ext cx="729779" cy="417512"/>
          </a:xfrm>
          <a:prstGeom prst="rect">
            <a:avLst/>
          </a:prstGeom>
        </p:spPr>
        <p:txBody>
          <a:bodyPr anchor="t" rtlCol="false" tIns="0" lIns="0" bIns="0" rIns="0">
            <a:spAutoFit/>
          </a:bodyPr>
          <a:lstStyle/>
          <a:p>
            <a:pPr algn="l">
              <a:lnSpc>
                <a:spcPts val="3312"/>
              </a:lnSpc>
            </a:pPr>
            <a:r>
              <a:rPr lang="en-US" b="true" sz="2625">
                <a:solidFill>
                  <a:srgbClr val="F7F7F7"/>
                </a:solidFill>
                <a:latin typeface="Barlow Semi-Bold"/>
                <a:ea typeface="Barlow Semi-Bold"/>
                <a:cs typeface="Barlow Semi-Bold"/>
                <a:sym typeface="Barlow Semi-Bold"/>
              </a:rPr>
              <a:t>ETL/</a:t>
            </a:r>
          </a:p>
        </p:txBody>
      </p:sp>
      <p:sp>
        <p:nvSpPr>
          <p:cNvPr name="TextBox 7" id="7"/>
          <p:cNvSpPr txBox="true"/>
          <p:nvPr/>
        </p:nvSpPr>
        <p:spPr>
          <a:xfrm rot="0">
            <a:off x="5869038" y="4176598"/>
            <a:ext cx="8086573" cy="384175"/>
          </a:xfrm>
          <a:prstGeom prst="rect">
            <a:avLst/>
          </a:prstGeom>
        </p:spPr>
        <p:txBody>
          <a:bodyPr anchor="t" rtlCol="false" tIns="0" lIns="0" bIns="0" rIns="0">
            <a:spAutoFit/>
          </a:bodyPr>
          <a:lstStyle/>
          <a:p>
            <a:pPr algn="l">
              <a:lnSpc>
                <a:spcPts val="3125"/>
              </a:lnSpc>
            </a:pPr>
            <a:r>
              <a:rPr lang="en-US" sz="2000" spc="8">
                <a:solidFill>
                  <a:srgbClr val="F7F7F7"/>
                </a:solidFill>
                <a:latin typeface="Barlow"/>
                <a:ea typeface="Barlow"/>
                <a:cs typeface="Barlow"/>
                <a:sym typeface="Barlow"/>
              </a:rPr>
              <a:t>Prepares and loads formulary, plan, and cost data into Supabase</a:t>
            </a:r>
          </a:p>
        </p:txBody>
      </p:sp>
      <p:grpSp>
        <p:nvGrpSpPr>
          <p:cNvPr name="Group 8" id="8"/>
          <p:cNvGrpSpPr/>
          <p:nvPr/>
        </p:nvGrpSpPr>
        <p:grpSpPr>
          <a:xfrm rot="0">
            <a:off x="4332389" y="5326742"/>
            <a:ext cx="1290638" cy="2297611"/>
            <a:chOff x="0" y="0"/>
            <a:chExt cx="1720850" cy="3063481"/>
          </a:xfrm>
        </p:grpSpPr>
        <p:sp>
          <p:nvSpPr>
            <p:cNvPr name="Freeform 9" id="9" descr="preencoded.png"/>
            <p:cNvSpPr/>
            <p:nvPr/>
          </p:nvSpPr>
          <p:spPr>
            <a:xfrm flipH="false" flipV="false" rot="0">
              <a:off x="0" y="0"/>
              <a:ext cx="1720850" cy="3063494"/>
            </a:xfrm>
            <a:custGeom>
              <a:avLst/>
              <a:gdLst/>
              <a:ahLst/>
              <a:cxnLst/>
              <a:rect r="r" b="b" t="t" l="l"/>
              <a:pathLst>
                <a:path h="3063494" w="1720850">
                  <a:moveTo>
                    <a:pt x="0" y="0"/>
                  </a:moveTo>
                  <a:lnTo>
                    <a:pt x="1720850" y="0"/>
                  </a:lnTo>
                  <a:lnTo>
                    <a:pt x="1720850" y="3063494"/>
                  </a:lnTo>
                  <a:lnTo>
                    <a:pt x="0" y="3063494"/>
                  </a:lnTo>
                  <a:lnTo>
                    <a:pt x="0" y="0"/>
                  </a:lnTo>
                  <a:close/>
                </a:path>
              </a:pathLst>
            </a:custGeom>
            <a:blipFill>
              <a:blip r:embed="rId3"/>
              <a:stretch>
                <a:fillRect l="-230" t="0" r="-229" b="0"/>
              </a:stretch>
            </a:blipFill>
          </p:spPr>
        </p:sp>
      </p:grpSp>
      <p:sp>
        <p:nvSpPr>
          <p:cNvPr name="TextBox 10" id="10"/>
          <p:cNvSpPr txBox="true"/>
          <p:nvPr/>
        </p:nvSpPr>
        <p:spPr>
          <a:xfrm rot="0">
            <a:off x="5869038" y="5565762"/>
            <a:ext cx="698450" cy="417512"/>
          </a:xfrm>
          <a:prstGeom prst="rect">
            <a:avLst/>
          </a:prstGeom>
        </p:spPr>
        <p:txBody>
          <a:bodyPr anchor="t" rtlCol="false" tIns="0" lIns="0" bIns="0" rIns="0">
            <a:spAutoFit/>
          </a:bodyPr>
          <a:lstStyle/>
          <a:p>
            <a:pPr algn="l">
              <a:lnSpc>
                <a:spcPts val="3312"/>
              </a:lnSpc>
            </a:pPr>
            <a:r>
              <a:rPr lang="en-US" b="true" sz="2625">
                <a:solidFill>
                  <a:srgbClr val="F7F7F7"/>
                </a:solidFill>
                <a:latin typeface="Barlow Semi-Bold"/>
                <a:ea typeface="Barlow Semi-Bold"/>
                <a:cs typeface="Barlow Semi-Bold"/>
                <a:sym typeface="Barlow Semi-Bold"/>
              </a:rPr>
              <a:t>app/</a:t>
            </a:r>
          </a:p>
        </p:txBody>
      </p:sp>
      <p:sp>
        <p:nvSpPr>
          <p:cNvPr name="TextBox 11" id="11"/>
          <p:cNvSpPr txBox="true"/>
          <p:nvPr/>
        </p:nvSpPr>
        <p:spPr>
          <a:xfrm rot="0">
            <a:off x="5869038" y="6071035"/>
            <a:ext cx="8086573" cy="1165225"/>
          </a:xfrm>
          <a:prstGeom prst="rect">
            <a:avLst/>
          </a:prstGeom>
        </p:spPr>
        <p:txBody>
          <a:bodyPr anchor="t" rtlCol="false" tIns="0" lIns="0" bIns="0" rIns="0">
            <a:spAutoFit/>
          </a:bodyPr>
          <a:lstStyle/>
          <a:p>
            <a:pPr algn="l">
              <a:lnSpc>
                <a:spcPts val="3125"/>
              </a:lnSpc>
            </a:pPr>
            <a:r>
              <a:rPr lang="en-US" sz="2000" spc="8">
                <a:solidFill>
                  <a:srgbClr val="F7F7F7"/>
                </a:solidFill>
                <a:latin typeface="Barlow"/>
                <a:ea typeface="Barlow"/>
                <a:cs typeface="Barlow"/>
                <a:sym typeface="Barlow"/>
              </a:rPr>
              <a:t>FastAPI backend - powers personalized prior authorization drafting support, detects drug tier changes, answers coverage-related queries and plan requirements explain.</a:t>
            </a:r>
          </a:p>
        </p:txBody>
      </p:sp>
      <p:grpSp>
        <p:nvGrpSpPr>
          <p:cNvPr name="Group 12" id="12"/>
          <p:cNvGrpSpPr/>
          <p:nvPr/>
        </p:nvGrpSpPr>
        <p:grpSpPr>
          <a:xfrm rot="0">
            <a:off x="4332389" y="7624353"/>
            <a:ext cx="1290638" cy="1894437"/>
            <a:chOff x="0" y="0"/>
            <a:chExt cx="1720850" cy="2525916"/>
          </a:xfrm>
        </p:grpSpPr>
        <p:sp>
          <p:nvSpPr>
            <p:cNvPr name="Freeform 13" id="13" descr="preencoded.png"/>
            <p:cNvSpPr/>
            <p:nvPr/>
          </p:nvSpPr>
          <p:spPr>
            <a:xfrm flipH="false" flipV="false" rot="0">
              <a:off x="0" y="0"/>
              <a:ext cx="1720850" cy="2525903"/>
            </a:xfrm>
            <a:custGeom>
              <a:avLst/>
              <a:gdLst/>
              <a:ahLst/>
              <a:cxnLst/>
              <a:rect r="r" b="b" t="t" l="l"/>
              <a:pathLst>
                <a:path h="2525903" w="1720850">
                  <a:moveTo>
                    <a:pt x="0" y="0"/>
                  </a:moveTo>
                  <a:lnTo>
                    <a:pt x="1720850" y="0"/>
                  </a:lnTo>
                  <a:lnTo>
                    <a:pt x="1720850" y="2525903"/>
                  </a:lnTo>
                  <a:lnTo>
                    <a:pt x="0" y="2525903"/>
                  </a:lnTo>
                  <a:lnTo>
                    <a:pt x="0" y="0"/>
                  </a:lnTo>
                  <a:close/>
                </a:path>
              </a:pathLst>
            </a:custGeom>
            <a:blipFill>
              <a:blip r:embed="rId4"/>
              <a:stretch>
                <a:fillRect l="-157" t="0" r="-156" b="0"/>
              </a:stretch>
            </a:blipFill>
          </p:spPr>
        </p:sp>
      </p:grpSp>
      <p:sp>
        <p:nvSpPr>
          <p:cNvPr name="TextBox 14" id="14"/>
          <p:cNvSpPr txBox="true"/>
          <p:nvPr/>
        </p:nvSpPr>
        <p:spPr>
          <a:xfrm rot="0">
            <a:off x="5869038" y="7863373"/>
            <a:ext cx="1608906" cy="417512"/>
          </a:xfrm>
          <a:prstGeom prst="rect">
            <a:avLst/>
          </a:prstGeom>
        </p:spPr>
        <p:txBody>
          <a:bodyPr anchor="t" rtlCol="false" tIns="0" lIns="0" bIns="0" rIns="0">
            <a:spAutoFit/>
          </a:bodyPr>
          <a:lstStyle/>
          <a:p>
            <a:pPr algn="l">
              <a:lnSpc>
                <a:spcPts val="3312"/>
              </a:lnSpc>
            </a:pPr>
            <a:r>
              <a:rPr lang="en-US" b="true" sz="2625">
                <a:solidFill>
                  <a:srgbClr val="F7F7F7"/>
                </a:solidFill>
                <a:latin typeface="Barlow Semi-Bold"/>
                <a:ea typeface="Barlow Semi-Bold"/>
                <a:cs typeface="Barlow Semi-Bold"/>
                <a:sym typeface="Barlow Semi-Bold"/>
              </a:rPr>
              <a:t>front_end/</a:t>
            </a:r>
          </a:p>
        </p:txBody>
      </p:sp>
      <p:sp>
        <p:nvSpPr>
          <p:cNvPr name="TextBox 15" id="15"/>
          <p:cNvSpPr txBox="true"/>
          <p:nvPr/>
        </p:nvSpPr>
        <p:spPr>
          <a:xfrm rot="0">
            <a:off x="5869038" y="8368646"/>
            <a:ext cx="8086573" cy="384175"/>
          </a:xfrm>
          <a:prstGeom prst="rect">
            <a:avLst/>
          </a:prstGeom>
        </p:spPr>
        <p:txBody>
          <a:bodyPr anchor="t" rtlCol="false" tIns="0" lIns="0" bIns="0" rIns="0">
            <a:spAutoFit/>
          </a:bodyPr>
          <a:lstStyle/>
          <a:p>
            <a:pPr algn="l">
              <a:lnSpc>
                <a:spcPts val="3125"/>
              </a:lnSpc>
            </a:pPr>
            <a:r>
              <a:rPr lang="en-US" sz="2000" spc="8">
                <a:solidFill>
                  <a:srgbClr val="F7F7F7"/>
                </a:solidFill>
                <a:latin typeface="Barlow"/>
                <a:ea typeface="Barlow"/>
                <a:cs typeface="Barlow"/>
                <a:sym typeface="Barlow"/>
              </a:rPr>
              <a:t>React + TypeScript provider dashboard, the full workflow in one place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2535879" y="753513"/>
            <a:ext cx="7111008" cy="447651"/>
          </a:xfrm>
          <a:prstGeom prst="rect">
            <a:avLst/>
          </a:prstGeom>
        </p:spPr>
        <p:txBody>
          <a:bodyPr anchor="t" rtlCol="false" tIns="0" lIns="0" bIns="0" rIns="0">
            <a:spAutoFit/>
          </a:bodyPr>
          <a:lstStyle/>
          <a:p>
            <a:pPr algn="l">
              <a:lnSpc>
                <a:spcPts val="3078"/>
              </a:lnSpc>
            </a:pPr>
            <a:r>
              <a:rPr lang="en-US" b="true" sz="3939">
                <a:solidFill>
                  <a:srgbClr val="6C9286"/>
                </a:solidFill>
                <a:latin typeface="Barlow Bold"/>
                <a:ea typeface="Barlow Bold"/>
                <a:cs typeface="Barlow Bold"/>
                <a:sym typeface="Barlow Bold"/>
              </a:rPr>
              <a:t>The Data Foundation: ETL Layer</a:t>
            </a:r>
          </a:p>
        </p:txBody>
      </p:sp>
      <p:sp>
        <p:nvSpPr>
          <p:cNvPr name="TextBox 3" id="3"/>
          <p:cNvSpPr txBox="true"/>
          <p:nvPr/>
        </p:nvSpPr>
        <p:spPr>
          <a:xfrm rot="0">
            <a:off x="1544050" y="3284620"/>
            <a:ext cx="7377894" cy="942975"/>
          </a:xfrm>
          <a:prstGeom prst="rect">
            <a:avLst/>
          </a:prstGeom>
        </p:spPr>
        <p:txBody>
          <a:bodyPr anchor="t" rtlCol="false" tIns="0" lIns="0" bIns="0" rIns="0">
            <a:spAutoFit/>
          </a:bodyPr>
          <a:lstStyle/>
          <a:p>
            <a:pPr algn="l">
              <a:lnSpc>
                <a:spcPts val="1875"/>
              </a:lnSpc>
            </a:pPr>
            <a:r>
              <a:rPr lang="en-US" sz="2250" spc="9">
                <a:solidFill>
                  <a:srgbClr val="365B6D"/>
                </a:solidFill>
                <a:latin typeface="Barlow"/>
                <a:ea typeface="Barlow"/>
                <a:cs typeface="Barlow"/>
                <a:sym typeface="Barlow"/>
              </a:rPr>
              <a:t>The ETL layer is the backbone. The backend can only answer formulary questions if the underlying data has already been cleaned, shaped, and loaded into Supabase. Three core tables power all downstream logic.</a:t>
            </a:r>
          </a:p>
        </p:txBody>
      </p:sp>
      <p:grpSp>
        <p:nvGrpSpPr>
          <p:cNvPr name="Group 4" id="4"/>
          <p:cNvGrpSpPr/>
          <p:nvPr/>
        </p:nvGrpSpPr>
        <p:grpSpPr>
          <a:xfrm rot="0">
            <a:off x="9375277" y="1520428"/>
            <a:ext cx="6386065" cy="6386065"/>
            <a:chOff x="0" y="0"/>
            <a:chExt cx="8514753" cy="8514753"/>
          </a:xfrm>
        </p:grpSpPr>
        <p:sp>
          <p:nvSpPr>
            <p:cNvPr name="Freeform 5" id="5" descr="preencoded.png"/>
            <p:cNvSpPr/>
            <p:nvPr/>
          </p:nvSpPr>
          <p:spPr>
            <a:xfrm flipH="false" flipV="false" rot="0">
              <a:off x="0" y="0"/>
              <a:ext cx="8514715" cy="8514715"/>
            </a:xfrm>
            <a:custGeom>
              <a:avLst/>
              <a:gdLst/>
              <a:ahLst/>
              <a:cxnLst/>
              <a:rect r="r" b="b" t="t" l="l"/>
              <a:pathLst>
                <a:path h="8514715" w="8514715">
                  <a:moveTo>
                    <a:pt x="0" y="0"/>
                  </a:moveTo>
                  <a:lnTo>
                    <a:pt x="8514715" y="0"/>
                  </a:lnTo>
                  <a:lnTo>
                    <a:pt x="8514715" y="8514715"/>
                  </a:lnTo>
                  <a:lnTo>
                    <a:pt x="0" y="8514715"/>
                  </a:lnTo>
                  <a:lnTo>
                    <a:pt x="0" y="0"/>
                  </a:lnTo>
                  <a:close/>
                </a:path>
              </a:pathLst>
            </a:custGeom>
            <a:blipFill>
              <a:blip r:embed="rId2"/>
              <a:stretch>
                <a:fillRect l="0" t="0" r="0" b="0"/>
              </a:stretch>
            </a:blipFill>
          </p:spPr>
        </p:sp>
      </p:grpSp>
      <p:grpSp>
        <p:nvGrpSpPr>
          <p:cNvPr name="Group 6" id="6"/>
          <p:cNvGrpSpPr/>
          <p:nvPr/>
        </p:nvGrpSpPr>
        <p:grpSpPr>
          <a:xfrm rot="0">
            <a:off x="9375277" y="1520428"/>
            <a:ext cx="6386065" cy="6386065"/>
            <a:chOff x="0" y="0"/>
            <a:chExt cx="8514753" cy="8514753"/>
          </a:xfrm>
        </p:grpSpPr>
        <p:sp>
          <p:nvSpPr>
            <p:cNvPr name="Freeform 7" id="7" descr="preencoded.png"/>
            <p:cNvSpPr/>
            <p:nvPr/>
          </p:nvSpPr>
          <p:spPr>
            <a:xfrm flipH="false" flipV="false" rot="0">
              <a:off x="0" y="0"/>
              <a:ext cx="8514715" cy="8514715"/>
            </a:xfrm>
            <a:custGeom>
              <a:avLst/>
              <a:gdLst/>
              <a:ahLst/>
              <a:cxnLst/>
              <a:rect r="r" b="b" t="t" l="l"/>
              <a:pathLst>
                <a:path h="8514715" w="8514715">
                  <a:moveTo>
                    <a:pt x="0" y="0"/>
                  </a:moveTo>
                  <a:lnTo>
                    <a:pt x="8514715" y="0"/>
                  </a:lnTo>
                  <a:lnTo>
                    <a:pt x="8514715" y="8514715"/>
                  </a:lnTo>
                  <a:lnTo>
                    <a:pt x="0" y="8514715"/>
                  </a:lnTo>
                  <a:lnTo>
                    <a:pt x="0" y="0"/>
                  </a:lnTo>
                  <a:close/>
                </a:path>
              </a:pathLst>
            </a:custGeom>
            <a:blipFill>
              <a:blip r:embed="rId3"/>
              <a:stretch>
                <a:fillRect l="0" t="0" r="0" b="0"/>
              </a:stretch>
            </a:blipFill>
          </p:spPr>
        </p:sp>
      </p:grpSp>
      <p:grpSp>
        <p:nvGrpSpPr>
          <p:cNvPr name="Group 8" id="8"/>
          <p:cNvGrpSpPr/>
          <p:nvPr/>
        </p:nvGrpSpPr>
        <p:grpSpPr>
          <a:xfrm rot="0">
            <a:off x="2526354" y="8172002"/>
            <a:ext cx="4342952" cy="1523409"/>
            <a:chOff x="0" y="0"/>
            <a:chExt cx="5790603" cy="2031213"/>
          </a:xfrm>
        </p:grpSpPr>
        <p:sp>
          <p:nvSpPr>
            <p:cNvPr name="Freeform 9" id="9"/>
            <p:cNvSpPr/>
            <p:nvPr/>
          </p:nvSpPr>
          <p:spPr>
            <a:xfrm flipH="false" flipV="false" rot="0">
              <a:off x="12700" y="12700"/>
              <a:ext cx="5765292" cy="2005838"/>
            </a:xfrm>
            <a:custGeom>
              <a:avLst/>
              <a:gdLst/>
              <a:ahLst/>
              <a:cxnLst/>
              <a:rect r="r" b="b" t="t" l="l"/>
              <a:pathLst>
                <a:path h="2005838" w="5765292">
                  <a:moveTo>
                    <a:pt x="0" y="121920"/>
                  </a:moveTo>
                  <a:cubicBezTo>
                    <a:pt x="0" y="54610"/>
                    <a:pt x="54991" y="0"/>
                    <a:pt x="122936" y="0"/>
                  </a:cubicBezTo>
                  <a:lnTo>
                    <a:pt x="5642356" y="0"/>
                  </a:lnTo>
                  <a:cubicBezTo>
                    <a:pt x="5710301" y="0"/>
                    <a:pt x="5765292" y="54610"/>
                    <a:pt x="5765292" y="121920"/>
                  </a:cubicBezTo>
                  <a:lnTo>
                    <a:pt x="5765292" y="1883918"/>
                  </a:lnTo>
                  <a:cubicBezTo>
                    <a:pt x="5765292" y="1951228"/>
                    <a:pt x="5710301" y="2005838"/>
                    <a:pt x="5642356" y="2005838"/>
                  </a:cubicBezTo>
                  <a:lnTo>
                    <a:pt x="122936" y="2005838"/>
                  </a:lnTo>
                  <a:cubicBezTo>
                    <a:pt x="54991" y="2005838"/>
                    <a:pt x="0" y="1951228"/>
                    <a:pt x="0" y="1883918"/>
                  </a:cubicBezTo>
                  <a:close/>
                </a:path>
              </a:pathLst>
            </a:custGeom>
            <a:solidFill>
              <a:srgbClr val="FFFFFF"/>
            </a:solidFill>
          </p:spPr>
        </p:sp>
        <p:sp>
          <p:nvSpPr>
            <p:cNvPr name="Freeform 10" id="10"/>
            <p:cNvSpPr/>
            <p:nvPr/>
          </p:nvSpPr>
          <p:spPr>
            <a:xfrm flipH="false" flipV="false" rot="0">
              <a:off x="0" y="0"/>
              <a:ext cx="5790692" cy="2031238"/>
            </a:xfrm>
            <a:custGeom>
              <a:avLst/>
              <a:gdLst/>
              <a:ahLst/>
              <a:cxnLst/>
              <a:rect r="r" b="b" t="t" l="l"/>
              <a:pathLst>
                <a:path h="2031238" w="5790692">
                  <a:moveTo>
                    <a:pt x="0" y="134620"/>
                  </a:moveTo>
                  <a:cubicBezTo>
                    <a:pt x="0" y="60198"/>
                    <a:pt x="60833" y="0"/>
                    <a:pt x="135636" y="0"/>
                  </a:cubicBezTo>
                  <a:lnTo>
                    <a:pt x="5655056" y="0"/>
                  </a:lnTo>
                  <a:lnTo>
                    <a:pt x="5655056" y="12700"/>
                  </a:lnTo>
                  <a:lnTo>
                    <a:pt x="5655056" y="0"/>
                  </a:lnTo>
                  <a:cubicBezTo>
                    <a:pt x="5729859" y="0"/>
                    <a:pt x="5790692" y="60198"/>
                    <a:pt x="5790692" y="134620"/>
                  </a:cubicBezTo>
                  <a:lnTo>
                    <a:pt x="5777992" y="134620"/>
                  </a:lnTo>
                  <a:lnTo>
                    <a:pt x="5790692" y="134620"/>
                  </a:lnTo>
                  <a:lnTo>
                    <a:pt x="5790692" y="1896618"/>
                  </a:lnTo>
                  <a:lnTo>
                    <a:pt x="5777992" y="1896618"/>
                  </a:lnTo>
                  <a:lnTo>
                    <a:pt x="5790692" y="1896618"/>
                  </a:lnTo>
                  <a:cubicBezTo>
                    <a:pt x="5790692" y="1971040"/>
                    <a:pt x="5729859" y="2031238"/>
                    <a:pt x="5655056" y="2031238"/>
                  </a:cubicBezTo>
                  <a:lnTo>
                    <a:pt x="5655056" y="2018538"/>
                  </a:lnTo>
                  <a:lnTo>
                    <a:pt x="5655056" y="2031238"/>
                  </a:lnTo>
                  <a:lnTo>
                    <a:pt x="135636" y="2031238"/>
                  </a:lnTo>
                  <a:lnTo>
                    <a:pt x="135636" y="2018538"/>
                  </a:lnTo>
                  <a:lnTo>
                    <a:pt x="135636" y="2031238"/>
                  </a:lnTo>
                  <a:cubicBezTo>
                    <a:pt x="60833" y="2031238"/>
                    <a:pt x="0" y="1971040"/>
                    <a:pt x="0" y="1896618"/>
                  </a:cubicBezTo>
                  <a:lnTo>
                    <a:pt x="0" y="134620"/>
                  </a:lnTo>
                  <a:lnTo>
                    <a:pt x="12700" y="134620"/>
                  </a:lnTo>
                  <a:lnTo>
                    <a:pt x="0" y="134620"/>
                  </a:lnTo>
                  <a:moveTo>
                    <a:pt x="25400" y="134620"/>
                  </a:moveTo>
                  <a:lnTo>
                    <a:pt x="25400" y="1896618"/>
                  </a:lnTo>
                  <a:lnTo>
                    <a:pt x="12700" y="1896618"/>
                  </a:lnTo>
                  <a:lnTo>
                    <a:pt x="25400" y="1896618"/>
                  </a:lnTo>
                  <a:cubicBezTo>
                    <a:pt x="25400" y="1956816"/>
                    <a:pt x="74676" y="2005838"/>
                    <a:pt x="135636" y="2005838"/>
                  </a:cubicBezTo>
                  <a:lnTo>
                    <a:pt x="5655056" y="2005838"/>
                  </a:lnTo>
                  <a:cubicBezTo>
                    <a:pt x="5716016" y="2005838"/>
                    <a:pt x="5765292" y="1956816"/>
                    <a:pt x="5765292" y="1896618"/>
                  </a:cubicBezTo>
                  <a:lnTo>
                    <a:pt x="5765292" y="134620"/>
                  </a:lnTo>
                  <a:cubicBezTo>
                    <a:pt x="5765292" y="74422"/>
                    <a:pt x="5716016" y="25400"/>
                    <a:pt x="5655056" y="25400"/>
                  </a:cubicBezTo>
                  <a:lnTo>
                    <a:pt x="135636" y="25400"/>
                  </a:lnTo>
                  <a:lnTo>
                    <a:pt x="135636" y="12700"/>
                  </a:lnTo>
                  <a:lnTo>
                    <a:pt x="135636" y="25400"/>
                  </a:lnTo>
                  <a:cubicBezTo>
                    <a:pt x="74676" y="25400"/>
                    <a:pt x="25400" y="74422"/>
                    <a:pt x="25400" y="134620"/>
                  </a:cubicBezTo>
                  <a:close/>
                </a:path>
              </a:pathLst>
            </a:custGeom>
            <a:solidFill>
              <a:srgbClr val="DFB8BC"/>
            </a:solidFill>
          </p:spPr>
        </p:sp>
      </p:grpSp>
      <p:grpSp>
        <p:nvGrpSpPr>
          <p:cNvPr name="Group 11" id="11"/>
          <p:cNvGrpSpPr/>
          <p:nvPr/>
        </p:nvGrpSpPr>
        <p:grpSpPr>
          <a:xfrm rot="0">
            <a:off x="2516829" y="8181527"/>
            <a:ext cx="76200" cy="1504359"/>
            <a:chOff x="0" y="0"/>
            <a:chExt cx="101600" cy="2005813"/>
          </a:xfrm>
        </p:grpSpPr>
        <p:sp>
          <p:nvSpPr>
            <p:cNvPr name="Freeform 12" id="12"/>
            <p:cNvSpPr/>
            <p:nvPr/>
          </p:nvSpPr>
          <p:spPr>
            <a:xfrm flipH="false" flipV="false" rot="0">
              <a:off x="0" y="0"/>
              <a:ext cx="101600" cy="2005838"/>
            </a:xfrm>
            <a:custGeom>
              <a:avLst/>
              <a:gdLst/>
              <a:ahLst/>
              <a:cxnLst/>
              <a:rect r="r" b="b" t="t" l="l"/>
              <a:pathLst>
                <a:path h="2005838" w="101600">
                  <a:moveTo>
                    <a:pt x="0" y="50800"/>
                  </a:moveTo>
                  <a:cubicBezTo>
                    <a:pt x="0" y="22733"/>
                    <a:pt x="22733" y="0"/>
                    <a:pt x="50800" y="0"/>
                  </a:cubicBezTo>
                  <a:cubicBezTo>
                    <a:pt x="78867" y="0"/>
                    <a:pt x="101600" y="22733"/>
                    <a:pt x="101600" y="50800"/>
                  </a:cubicBezTo>
                  <a:lnTo>
                    <a:pt x="101600" y="1955038"/>
                  </a:lnTo>
                  <a:cubicBezTo>
                    <a:pt x="101600" y="1983105"/>
                    <a:pt x="78867" y="2005838"/>
                    <a:pt x="50800" y="2005838"/>
                  </a:cubicBezTo>
                  <a:cubicBezTo>
                    <a:pt x="22733" y="2005838"/>
                    <a:pt x="0" y="1983105"/>
                    <a:pt x="0" y="1955038"/>
                  </a:cubicBezTo>
                  <a:close/>
                </a:path>
              </a:pathLst>
            </a:custGeom>
            <a:solidFill>
              <a:srgbClr val="289DD2"/>
            </a:solidFill>
          </p:spPr>
        </p:sp>
      </p:grpSp>
      <p:sp>
        <p:nvSpPr>
          <p:cNvPr name="TextBox 13" id="13"/>
          <p:cNvSpPr txBox="true"/>
          <p:nvPr/>
        </p:nvSpPr>
        <p:spPr>
          <a:xfrm rot="0">
            <a:off x="2793949" y="8401498"/>
            <a:ext cx="1089720" cy="281732"/>
          </a:xfrm>
          <a:prstGeom prst="rect">
            <a:avLst/>
          </a:prstGeom>
        </p:spPr>
        <p:txBody>
          <a:bodyPr anchor="t" rtlCol="false" tIns="0" lIns="0" bIns="0" rIns="0">
            <a:spAutoFit/>
          </a:bodyPr>
          <a:lstStyle/>
          <a:p>
            <a:pPr algn="l">
              <a:lnSpc>
                <a:spcPts val="2049"/>
              </a:lnSpc>
            </a:pPr>
            <a:r>
              <a:rPr lang="en-US" b="true" sz="1993">
                <a:solidFill>
                  <a:srgbClr val="365B6D"/>
                </a:solidFill>
                <a:latin typeface="Barlow Semi-Bold"/>
                <a:ea typeface="Barlow Semi-Bold"/>
                <a:cs typeface="Barlow Semi-Bold"/>
                <a:sym typeface="Barlow Semi-Bold"/>
              </a:rPr>
              <a:t>formulary</a:t>
            </a:r>
          </a:p>
        </p:txBody>
      </p:sp>
      <p:sp>
        <p:nvSpPr>
          <p:cNvPr name="TextBox 14" id="14"/>
          <p:cNvSpPr txBox="true"/>
          <p:nvPr/>
        </p:nvSpPr>
        <p:spPr>
          <a:xfrm rot="0">
            <a:off x="2793949" y="8774011"/>
            <a:ext cx="3864921" cy="466725"/>
          </a:xfrm>
          <a:prstGeom prst="rect">
            <a:avLst/>
          </a:prstGeom>
        </p:spPr>
        <p:txBody>
          <a:bodyPr anchor="t" rtlCol="false" tIns="0" lIns="0" bIns="0" rIns="0">
            <a:spAutoFit/>
          </a:bodyPr>
          <a:lstStyle/>
          <a:p>
            <a:pPr algn="l">
              <a:lnSpc>
                <a:spcPts val="1874"/>
              </a:lnSpc>
            </a:pPr>
            <a:r>
              <a:rPr lang="en-US" sz="1749" spc="6">
                <a:solidFill>
                  <a:srgbClr val="365B6D"/>
                </a:solidFill>
                <a:latin typeface="Barlow"/>
                <a:ea typeface="Barlow"/>
                <a:cs typeface="Barlow"/>
                <a:sym typeface="Barlow"/>
              </a:rPr>
              <a:t>rxcui, tier level, PA flags, step therapy, quantity limits, data_date</a:t>
            </a:r>
          </a:p>
        </p:txBody>
      </p:sp>
      <p:grpSp>
        <p:nvGrpSpPr>
          <p:cNvPr name="Group 15" id="15"/>
          <p:cNvGrpSpPr/>
          <p:nvPr/>
        </p:nvGrpSpPr>
        <p:grpSpPr>
          <a:xfrm rot="0">
            <a:off x="6972452" y="8172002"/>
            <a:ext cx="4342952" cy="1523409"/>
            <a:chOff x="0" y="0"/>
            <a:chExt cx="5790603" cy="2031213"/>
          </a:xfrm>
        </p:grpSpPr>
        <p:sp>
          <p:nvSpPr>
            <p:cNvPr name="Freeform 16" id="16"/>
            <p:cNvSpPr/>
            <p:nvPr/>
          </p:nvSpPr>
          <p:spPr>
            <a:xfrm flipH="false" flipV="false" rot="0">
              <a:off x="12700" y="12700"/>
              <a:ext cx="5765292" cy="2005838"/>
            </a:xfrm>
            <a:custGeom>
              <a:avLst/>
              <a:gdLst/>
              <a:ahLst/>
              <a:cxnLst/>
              <a:rect r="r" b="b" t="t" l="l"/>
              <a:pathLst>
                <a:path h="2005838" w="5765292">
                  <a:moveTo>
                    <a:pt x="0" y="121920"/>
                  </a:moveTo>
                  <a:cubicBezTo>
                    <a:pt x="0" y="54610"/>
                    <a:pt x="54991" y="0"/>
                    <a:pt x="122936" y="0"/>
                  </a:cubicBezTo>
                  <a:lnTo>
                    <a:pt x="5642356" y="0"/>
                  </a:lnTo>
                  <a:cubicBezTo>
                    <a:pt x="5710301" y="0"/>
                    <a:pt x="5765292" y="54610"/>
                    <a:pt x="5765292" y="121920"/>
                  </a:cubicBezTo>
                  <a:lnTo>
                    <a:pt x="5765292" y="1883918"/>
                  </a:lnTo>
                  <a:cubicBezTo>
                    <a:pt x="5765292" y="1951228"/>
                    <a:pt x="5710301" y="2005838"/>
                    <a:pt x="5642356" y="2005838"/>
                  </a:cubicBezTo>
                  <a:lnTo>
                    <a:pt x="122936" y="2005838"/>
                  </a:lnTo>
                  <a:cubicBezTo>
                    <a:pt x="54991" y="2005838"/>
                    <a:pt x="0" y="1951228"/>
                    <a:pt x="0" y="1883918"/>
                  </a:cubicBezTo>
                  <a:close/>
                </a:path>
              </a:pathLst>
            </a:custGeom>
            <a:solidFill>
              <a:srgbClr val="FFFFFF"/>
            </a:solidFill>
          </p:spPr>
        </p:sp>
        <p:sp>
          <p:nvSpPr>
            <p:cNvPr name="Freeform 17" id="17"/>
            <p:cNvSpPr/>
            <p:nvPr/>
          </p:nvSpPr>
          <p:spPr>
            <a:xfrm flipH="false" flipV="false" rot="0">
              <a:off x="0" y="0"/>
              <a:ext cx="5790692" cy="2031238"/>
            </a:xfrm>
            <a:custGeom>
              <a:avLst/>
              <a:gdLst/>
              <a:ahLst/>
              <a:cxnLst/>
              <a:rect r="r" b="b" t="t" l="l"/>
              <a:pathLst>
                <a:path h="2031238" w="5790692">
                  <a:moveTo>
                    <a:pt x="0" y="134620"/>
                  </a:moveTo>
                  <a:cubicBezTo>
                    <a:pt x="0" y="60198"/>
                    <a:pt x="60833" y="0"/>
                    <a:pt x="135636" y="0"/>
                  </a:cubicBezTo>
                  <a:lnTo>
                    <a:pt x="5655056" y="0"/>
                  </a:lnTo>
                  <a:lnTo>
                    <a:pt x="5655056" y="12700"/>
                  </a:lnTo>
                  <a:lnTo>
                    <a:pt x="5655056" y="0"/>
                  </a:lnTo>
                  <a:cubicBezTo>
                    <a:pt x="5729859" y="0"/>
                    <a:pt x="5790692" y="60198"/>
                    <a:pt x="5790692" y="134620"/>
                  </a:cubicBezTo>
                  <a:lnTo>
                    <a:pt x="5777992" y="134620"/>
                  </a:lnTo>
                  <a:lnTo>
                    <a:pt x="5790692" y="134620"/>
                  </a:lnTo>
                  <a:lnTo>
                    <a:pt x="5790692" y="1896618"/>
                  </a:lnTo>
                  <a:lnTo>
                    <a:pt x="5777992" y="1896618"/>
                  </a:lnTo>
                  <a:lnTo>
                    <a:pt x="5790692" y="1896618"/>
                  </a:lnTo>
                  <a:cubicBezTo>
                    <a:pt x="5790692" y="1971040"/>
                    <a:pt x="5729859" y="2031238"/>
                    <a:pt x="5655056" y="2031238"/>
                  </a:cubicBezTo>
                  <a:lnTo>
                    <a:pt x="5655056" y="2018538"/>
                  </a:lnTo>
                  <a:lnTo>
                    <a:pt x="5655056" y="2031238"/>
                  </a:lnTo>
                  <a:lnTo>
                    <a:pt x="135636" y="2031238"/>
                  </a:lnTo>
                  <a:lnTo>
                    <a:pt x="135636" y="2018538"/>
                  </a:lnTo>
                  <a:lnTo>
                    <a:pt x="135636" y="2031238"/>
                  </a:lnTo>
                  <a:cubicBezTo>
                    <a:pt x="60833" y="2031238"/>
                    <a:pt x="0" y="1971040"/>
                    <a:pt x="0" y="1896618"/>
                  </a:cubicBezTo>
                  <a:lnTo>
                    <a:pt x="0" y="134620"/>
                  </a:lnTo>
                  <a:lnTo>
                    <a:pt x="12700" y="134620"/>
                  </a:lnTo>
                  <a:lnTo>
                    <a:pt x="0" y="134620"/>
                  </a:lnTo>
                  <a:moveTo>
                    <a:pt x="25400" y="134620"/>
                  </a:moveTo>
                  <a:lnTo>
                    <a:pt x="25400" y="1896618"/>
                  </a:lnTo>
                  <a:lnTo>
                    <a:pt x="12700" y="1896618"/>
                  </a:lnTo>
                  <a:lnTo>
                    <a:pt x="25400" y="1896618"/>
                  </a:lnTo>
                  <a:cubicBezTo>
                    <a:pt x="25400" y="1956816"/>
                    <a:pt x="74676" y="2005838"/>
                    <a:pt x="135636" y="2005838"/>
                  </a:cubicBezTo>
                  <a:lnTo>
                    <a:pt x="5655056" y="2005838"/>
                  </a:lnTo>
                  <a:cubicBezTo>
                    <a:pt x="5716016" y="2005838"/>
                    <a:pt x="5765292" y="1956816"/>
                    <a:pt x="5765292" y="1896618"/>
                  </a:cubicBezTo>
                  <a:lnTo>
                    <a:pt x="5765292" y="134620"/>
                  </a:lnTo>
                  <a:cubicBezTo>
                    <a:pt x="5765292" y="74422"/>
                    <a:pt x="5716016" y="25400"/>
                    <a:pt x="5655056" y="25400"/>
                  </a:cubicBezTo>
                  <a:lnTo>
                    <a:pt x="135636" y="25400"/>
                  </a:lnTo>
                  <a:lnTo>
                    <a:pt x="135636" y="12700"/>
                  </a:lnTo>
                  <a:lnTo>
                    <a:pt x="135636" y="25400"/>
                  </a:lnTo>
                  <a:cubicBezTo>
                    <a:pt x="74676" y="25400"/>
                    <a:pt x="25400" y="74422"/>
                    <a:pt x="25400" y="134620"/>
                  </a:cubicBezTo>
                  <a:close/>
                </a:path>
              </a:pathLst>
            </a:custGeom>
            <a:solidFill>
              <a:srgbClr val="DFB8BC"/>
            </a:solidFill>
          </p:spPr>
        </p:sp>
      </p:grpSp>
      <p:grpSp>
        <p:nvGrpSpPr>
          <p:cNvPr name="Group 18" id="18"/>
          <p:cNvGrpSpPr/>
          <p:nvPr/>
        </p:nvGrpSpPr>
        <p:grpSpPr>
          <a:xfrm rot="0">
            <a:off x="6962927" y="8181527"/>
            <a:ext cx="76200" cy="1504359"/>
            <a:chOff x="0" y="0"/>
            <a:chExt cx="101600" cy="2005813"/>
          </a:xfrm>
        </p:grpSpPr>
        <p:sp>
          <p:nvSpPr>
            <p:cNvPr name="Freeform 19" id="19"/>
            <p:cNvSpPr/>
            <p:nvPr/>
          </p:nvSpPr>
          <p:spPr>
            <a:xfrm flipH="false" flipV="false" rot="0">
              <a:off x="0" y="0"/>
              <a:ext cx="101600" cy="2005838"/>
            </a:xfrm>
            <a:custGeom>
              <a:avLst/>
              <a:gdLst/>
              <a:ahLst/>
              <a:cxnLst/>
              <a:rect r="r" b="b" t="t" l="l"/>
              <a:pathLst>
                <a:path h="2005838" w="101600">
                  <a:moveTo>
                    <a:pt x="0" y="50800"/>
                  </a:moveTo>
                  <a:cubicBezTo>
                    <a:pt x="0" y="22733"/>
                    <a:pt x="22733" y="0"/>
                    <a:pt x="50800" y="0"/>
                  </a:cubicBezTo>
                  <a:cubicBezTo>
                    <a:pt x="78867" y="0"/>
                    <a:pt x="101600" y="22733"/>
                    <a:pt x="101600" y="50800"/>
                  </a:cubicBezTo>
                  <a:lnTo>
                    <a:pt x="101600" y="1955038"/>
                  </a:lnTo>
                  <a:cubicBezTo>
                    <a:pt x="101600" y="1983105"/>
                    <a:pt x="78867" y="2005838"/>
                    <a:pt x="50800" y="2005838"/>
                  </a:cubicBezTo>
                  <a:cubicBezTo>
                    <a:pt x="22733" y="2005838"/>
                    <a:pt x="0" y="1983105"/>
                    <a:pt x="0" y="1955038"/>
                  </a:cubicBezTo>
                  <a:close/>
                </a:path>
              </a:pathLst>
            </a:custGeom>
            <a:solidFill>
              <a:srgbClr val="289DD2"/>
            </a:solidFill>
          </p:spPr>
        </p:sp>
      </p:grpSp>
      <p:sp>
        <p:nvSpPr>
          <p:cNvPr name="TextBox 20" id="20"/>
          <p:cNvSpPr txBox="true"/>
          <p:nvPr/>
        </p:nvSpPr>
        <p:spPr>
          <a:xfrm rot="0">
            <a:off x="7240038" y="8401498"/>
            <a:ext cx="597768" cy="281732"/>
          </a:xfrm>
          <a:prstGeom prst="rect">
            <a:avLst/>
          </a:prstGeom>
        </p:spPr>
        <p:txBody>
          <a:bodyPr anchor="t" rtlCol="false" tIns="0" lIns="0" bIns="0" rIns="0">
            <a:spAutoFit/>
          </a:bodyPr>
          <a:lstStyle/>
          <a:p>
            <a:pPr algn="l">
              <a:lnSpc>
                <a:spcPts val="2049"/>
              </a:lnSpc>
            </a:pPr>
            <a:r>
              <a:rPr lang="en-US" b="true" sz="1993">
                <a:solidFill>
                  <a:srgbClr val="365B6D"/>
                </a:solidFill>
                <a:latin typeface="Barlow Semi-Bold"/>
                <a:ea typeface="Barlow Semi-Bold"/>
                <a:cs typeface="Barlow Semi-Bold"/>
                <a:sym typeface="Barlow Semi-Bold"/>
              </a:rPr>
              <a:t>plans</a:t>
            </a:r>
          </a:p>
        </p:txBody>
      </p:sp>
      <p:sp>
        <p:nvSpPr>
          <p:cNvPr name="TextBox 21" id="21"/>
          <p:cNvSpPr txBox="true"/>
          <p:nvPr/>
        </p:nvSpPr>
        <p:spPr>
          <a:xfrm rot="0">
            <a:off x="7240038" y="8774011"/>
            <a:ext cx="3864921" cy="466725"/>
          </a:xfrm>
          <a:prstGeom prst="rect">
            <a:avLst/>
          </a:prstGeom>
        </p:spPr>
        <p:txBody>
          <a:bodyPr anchor="t" rtlCol="false" tIns="0" lIns="0" bIns="0" rIns="0">
            <a:spAutoFit/>
          </a:bodyPr>
          <a:lstStyle/>
          <a:p>
            <a:pPr algn="l">
              <a:lnSpc>
                <a:spcPts val="1874"/>
              </a:lnSpc>
            </a:pPr>
            <a:r>
              <a:rPr lang="en-US" sz="1749" spc="6">
                <a:solidFill>
                  <a:srgbClr val="365B6D"/>
                </a:solidFill>
                <a:latin typeface="Barlow"/>
                <a:ea typeface="Barlow"/>
                <a:cs typeface="Barlow"/>
                <a:sym typeface="Barlow"/>
              </a:rPr>
              <a:t>contract, plan, segment, formulary_id, premium, deductible, state</a:t>
            </a:r>
          </a:p>
        </p:txBody>
      </p:sp>
      <p:grpSp>
        <p:nvGrpSpPr>
          <p:cNvPr name="Group 22" id="22"/>
          <p:cNvGrpSpPr/>
          <p:nvPr/>
        </p:nvGrpSpPr>
        <p:grpSpPr>
          <a:xfrm rot="0">
            <a:off x="11418541" y="8172002"/>
            <a:ext cx="4342952" cy="1523409"/>
            <a:chOff x="0" y="0"/>
            <a:chExt cx="5790603" cy="2031213"/>
          </a:xfrm>
        </p:grpSpPr>
        <p:sp>
          <p:nvSpPr>
            <p:cNvPr name="Freeform 23" id="23"/>
            <p:cNvSpPr/>
            <p:nvPr/>
          </p:nvSpPr>
          <p:spPr>
            <a:xfrm flipH="false" flipV="false" rot="0">
              <a:off x="12700" y="12700"/>
              <a:ext cx="5765292" cy="2005838"/>
            </a:xfrm>
            <a:custGeom>
              <a:avLst/>
              <a:gdLst/>
              <a:ahLst/>
              <a:cxnLst/>
              <a:rect r="r" b="b" t="t" l="l"/>
              <a:pathLst>
                <a:path h="2005838" w="5765292">
                  <a:moveTo>
                    <a:pt x="0" y="121920"/>
                  </a:moveTo>
                  <a:cubicBezTo>
                    <a:pt x="0" y="54610"/>
                    <a:pt x="54991" y="0"/>
                    <a:pt x="122936" y="0"/>
                  </a:cubicBezTo>
                  <a:lnTo>
                    <a:pt x="5642356" y="0"/>
                  </a:lnTo>
                  <a:cubicBezTo>
                    <a:pt x="5710301" y="0"/>
                    <a:pt x="5765292" y="54610"/>
                    <a:pt x="5765292" y="121920"/>
                  </a:cubicBezTo>
                  <a:lnTo>
                    <a:pt x="5765292" y="1883918"/>
                  </a:lnTo>
                  <a:cubicBezTo>
                    <a:pt x="5765292" y="1951228"/>
                    <a:pt x="5710301" y="2005838"/>
                    <a:pt x="5642356" y="2005838"/>
                  </a:cubicBezTo>
                  <a:lnTo>
                    <a:pt x="122936" y="2005838"/>
                  </a:lnTo>
                  <a:cubicBezTo>
                    <a:pt x="54991" y="2005838"/>
                    <a:pt x="0" y="1951228"/>
                    <a:pt x="0" y="1883918"/>
                  </a:cubicBezTo>
                  <a:close/>
                </a:path>
              </a:pathLst>
            </a:custGeom>
            <a:solidFill>
              <a:srgbClr val="FFFFFF"/>
            </a:solidFill>
          </p:spPr>
        </p:sp>
        <p:sp>
          <p:nvSpPr>
            <p:cNvPr name="Freeform 24" id="24"/>
            <p:cNvSpPr/>
            <p:nvPr/>
          </p:nvSpPr>
          <p:spPr>
            <a:xfrm flipH="false" flipV="false" rot="0">
              <a:off x="0" y="0"/>
              <a:ext cx="5790692" cy="2031238"/>
            </a:xfrm>
            <a:custGeom>
              <a:avLst/>
              <a:gdLst/>
              <a:ahLst/>
              <a:cxnLst/>
              <a:rect r="r" b="b" t="t" l="l"/>
              <a:pathLst>
                <a:path h="2031238" w="5790692">
                  <a:moveTo>
                    <a:pt x="0" y="134620"/>
                  </a:moveTo>
                  <a:cubicBezTo>
                    <a:pt x="0" y="60198"/>
                    <a:pt x="60833" y="0"/>
                    <a:pt x="135636" y="0"/>
                  </a:cubicBezTo>
                  <a:lnTo>
                    <a:pt x="5655056" y="0"/>
                  </a:lnTo>
                  <a:lnTo>
                    <a:pt x="5655056" y="12700"/>
                  </a:lnTo>
                  <a:lnTo>
                    <a:pt x="5655056" y="0"/>
                  </a:lnTo>
                  <a:cubicBezTo>
                    <a:pt x="5729859" y="0"/>
                    <a:pt x="5790692" y="60198"/>
                    <a:pt x="5790692" y="134620"/>
                  </a:cubicBezTo>
                  <a:lnTo>
                    <a:pt x="5777992" y="134620"/>
                  </a:lnTo>
                  <a:lnTo>
                    <a:pt x="5790692" y="134620"/>
                  </a:lnTo>
                  <a:lnTo>
                    <a:pt x="5790692" y="1896618"/>
                  </a:lnTo>
                  <a:lnTo>
                    <a:pt x="5777992" y="1896618"/>
                  </a:lnTo>
                  <a:lnTo>
                    <a:pt x="5790692" y="1896618"/>
                  </a:lnTo>
                  <a:cubicBezTo>
                    <a:pt x="5790692" y="1971040"/>
                    <a:pt x="5729859" y="2031238"/>
                    <a:pt x="5655056" y="2031238"/>
                  </a:cubicBezTo>
                  <a:lnTo>
                    <a:pt x="5655056" y="2018538"/>
                  </a:lnTo>
                  <a:lnTo>
                    <a:pt x="5655056" y="2031238"/>
                  </a:lnTo>
                  <a:lnTo>
                    <a:pt x="135636" y="2031238"/>
                  </a:lnTo>
                  <a:lnTo>
                    <a:pt x="135636" y="2018538"/>
                  </a:lnTo>
                  <a:lnTo>
                    <a:pt x="135636" y="2031238"/>
                  </a:lnTo>
                  <a:cubicBezTo>
                    <a:pt x="60833" y="2031238"/>
                    <a:pt x="0" y="1971040"/>
                    <a:pt x="0" y="1896618"/>
                  </a:cubicBezTo>
                  <a:lnTo>
                    <a:pt x="0" y="134620"/>
                  </a:lnTo>
                  <a:lnTo>
                    <a:pt x="12700" y="134620"/>
                  </a:lnTo>
                  <a:lnTo>
                    <a:pt x="0" y="134620"/>
                  </a:lnTo>
                  <a:moveTo>
                    <a:pt x="25400" y="134620"/>
                  </a:moveTo>
                  <a:lnTo>
                    <a:pt x="25400" y="1896618"/>
                  </a:lnTo>
                  <a:lnTo>
                    <a:pt x="12700" y="1896618"/>
                  </a:lnTo>
                  <a:lnTo>
                    <a:pt x="25400" y="1896618"/>
                  </a:lnTo>
                  <a:cubicBezTo>
                    <a:pt x="25400" y="1956816"/>
                    <a:pt x="74676" y="2005838"/>
                    <a:pt x="135636" y="2005838"/>
                  </a:cubicBezTo>
                  <a:lnTo>
                    <a:pt x="5655056" y="2005838"/>
                  </a:lnTo>
                  <a:cubicBezTo>
                    <a:pt x="5716016" y="2005838"/>
                    <a:pt x="5765292" y="1956816"/>
                    <a:pt x="5765292" y="1896618"/>
                  </a:cubicBezTo>
                  <a:lnTo>
                    <a:pt x="5765292" y="134620"/>
                  </a:lnTo>
                  <a:cubicBezTo>
                    <a:pt x="5765292" y="74422"/>
                    <a:pt x="5716016" y="25400"/>
                    <a:pt x="5655056" y="25400"/>
                  </a:cubicBezTo>
                  <a:lnTo>
                    <a:pt x="135636" y="25400"/>
                  </a:lnTo>
                  <a:lnTo>
                    <a:pt x="135636" y="12700"/>
                  </a:lnTo>
                  <a:lnTo>
                    <a:pt x="135636" y="25400"/>
                  </a:lnTo>
                  <a:cubicBezTo>
                    <a:pt x="74676" y="25400"/>
                    <a:pt x="25400" y="74422"/>
                    <a:pt x="25400" y="134620"/>
                  </a:cubicBezTo>
                  <a:close/>
                </a:path>
              </a:pathLst>
            </a:custGeom>
            <a:solidFill>
              <a:srgbClr val="DFB8BC"/>
            </a:solidFill>
          </p:spPr>
        </p:sp>
      </p:grpSp>
      <p:grpSp>
        <p:nvGrpSpPr>
          <p:cNvPr name="Group 25" id="25"/>
          <p:cNvGrpSpPr/>
          <p:nvPr/>
        </p:nvGrpSpPr>
        <p:grpSpPr>
          <a:xfrm rot="0">
            <a:off x="11409016" y="8181527"/>
            <a:ext cx="76200" cy="1504359"/>
            <a:chOff x="0" y="0"/>
            <a:chExt cx="101600" cy="2005813"/>
          </a:xfrm>
        </p:grpSpPr>
        <p:sp>
          <p:nvSpPr>
            <p:cNvPr name="Freeform 26" id="26"/>
            <p:cNvSpPr/>
            <p:nvPr/>
          </p:nvSpPr>
          <p:spPr>
            <a:xfrm flipH="false" flipV="false" rot="0">
              <a:off x="0" y="0"/>
              <a:ext cx="101600" cy="2005838"/>
            </a:xfrm>
            <a:custGeom>
              <a:avLst/>
              <a:gdLst/>
              <a:ahLst/>
              <a:cxnLst/>
              <a:rect r="r" b="b" t="t" l="l"/>
              <a:pathLst>
                <a:path h="2005838" w="101600">
                  <a:moveTo>
                    <a:pt x="0" y="50800"/>
                  </a:moveTo>
                  <a:cubicBezTo>
                    <a:pt x="0" y="22733"/>
                    <a:pt x="22733" y="0"/>
                    <a:pt x="50800" y="0"/>
                  </a:cubicBezTo>
                  <a:cubicBezTo>
                    <a:pt x="78867" y="0"/>
                    <a:pt x="101600" y="22733"/>
                    <a:pt x="101600" y="50800"/>
                  </a:cubicBezTo>
                  <a:lnTo>
                    <a:pt x="101600" y="1955038"/>
                  </a:lnTo>
                  <a:cubicBezTo>
                    <a:pt x="101600" y="1983105"/>
                    <a:pt x="78867" y="2005838"/>
                    <a:pt x="50800" y="2005838"/>
                  </a:cubicBezTo>
                  <a:cubicBezTo>
                    <a:pt x="22733" y="2005838"/>
                    <a:pt x="0" y="1983105"/>
                    <a:pt x="0" y="1955038"/>
                  </a:cubicBezTo>
                  <a:close/>
                </a:path>
              </a:pathLst>
            </a:custGeom>
            <a:solidFill>
              <a:srgbClr val="289DD2"/>
            </a:solidFill>
          </p:spPr>
        </p:sp>
      </p:grpSp>
      <p:sp>
        <p:nvSpPr>
          <p:cNvPr name="TextBox 27" id="27"/>
          <p:cNvSpPr txBox="true"/>
          <p:nvPr/>
        </p:nvSpPr>
        <p:spPr>
          <a:xfrm rot="0">
            <a:off x="11686137" y="8401498"/>
            <a:ext cx="619571" cy="281732"/>
          </a:xfrm>
          <a:prstGeom prst="rect">
            <a:avLst/>
          </a:prstGeom>
        </p:spPr>
        <p:txBody>
          <a:bodyPr anchor="t" rtlCol="false" tIns="0" lIns="0" bIns="0" rIns="0">
            <a:spAutoFit/>
          </a:bodyPr>
          <a:lstStyle/>
          <a:p>
            <a:pPr algn="l">
              <a:lnSpc>
                <a:spcPts val="2049"/>
              </a:lnSpc>
            </a:pPr>
            <a:r>
              <a:rPr lang="en-US" b="true" sz="1993">
                <a:solidFill>
                  <a:srgbClr val="365B6D"/>
                </a:solidFill>
                <a:latin typeface="Barlow Semi-Bold"/>
                <a:ea typeface="Barlow Semi-Bold"/>
                <a:cs typeface="Barlow Semi-Bold"/>
                <a:sym typeface="Barlow Semi-Bold"/>
              </a:rPr>
              <a:t>costs</a:t>
            </a:r>
          </a:p>
        </p:txBody>
      </p:sp>
      <p:sp>
        <p:nvSpPr>
          <p:cNvPr name="TextBox 28" id="28"/>
          <p:cNvSpPr txBox="true"/>
          <p:nvPr/>
        </p:nvSpPr>
        <p:spPr>
          <a:xfrm rot="0">
            <a:off x="11686137" y="8774011"/>
            <a:ext cx="3864921" cy="695325"/>
          </a:xfrm>
          <a:prstGeom prst="rect">
            <a:avLst/>
          </a:prstGeom>
        </p:spPr>
        <p:txBody>
          <a:bodyPr anchor="t" rtlCol="false" tIns="0" lIns="0" bIns="0" rIns="0">
            <a:spAutoFit/>
          </a:bodyPr>
          <a:lstStyle/>
          <a:p>
            <a:pPr algn="l">
              <a:lnSpc>
                <a:spcPts val="1874"/>
              </a:lnSpc>
            </a:pPr>
            <a:r>
              <a:rPr lang="en-US" sz="1749" spc="6">
                <a:solidFill>
                  <a:srgbClr val="365B6D"/>
                </a:solidFill>
                <a:latin typeface="Barlow"/>
                <a:ea typeface="Barlow"/>
                <a:cs typeface="Barlow"/>
                <a:sym typeface="Barlow"/>
              </a:rPr>
              <a:t>Cost-sharing details by plan and tier — connects tier changes to real patient dollars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947890" y="825998"/>
            <a:ext cx="10091291" cy="882650"/>
          </a:xfrm>
          <a:prstGeom prst="rect">
            <a:avLst/>
          </a:prstGeom>
        </p:spPr>
        <p:txBody>
          <a:bodyPr anchor="t" rtlCol="false" tIns="0" lIns="0" bIns="0" rIns="0">
            <a:spAutoFit/>
          </a:bodyPr>
          <a:lstStyle/>
          <a:p>
            <a:pPr algn="l">
              <a:lnSpc>
                <a:spcPts val="7000"/>
              </a:lnSpc>
            </a:pPr>
            <a:r>
              <a:rPr lang="en-US" b="true" sz="5562">
                <a:solidFill>
                  <a:srgbClr val="6C9286"/>
                </a:solidFill>
                <a:latin typeface="Barlow Bold"/>
                <a:ea typeface="Barlow Bold"/>
                <a:cs typeface="Barlow Bold"/>
                <a:sym typeface="Barlow Bold"/>
              </a:rPr>
              <a:t>Backend: Where the Logic Lives</a:t>
            </a:r>
          </a:p>
        </p:txBody>
      </p:sp>
      <p:sp>
        <p:nvSpPr>
          <p:cNvPr name="TextBox 3" id="3"/>
          <p:cNvSpPr txBox="true"/>
          <p:nvPr/>
        </p:nvSpPr>
        <p:spPr>
          <a:xfrm rot="0">
            <a:off x="947890" y="2220363"/>
            <a:ext cx="16392230" cy="8096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The FastAPI backend connects Supabase, RxNav, , and Gemini into one reasoning pipeline. It is not only a data server — it assembles clinical and insurance context into structured, actionable outputs.</a:t>
            </a:r>
          </a:p>
        </p:txBody>
      </p:sp>
      <p:sp>
        <p:nvSpPr>
          <p:cNvPr name="Freeform 4" id="4" descr="preencoded.png"/>
          <p:cNvSpPr/>
          <p:nvPr/>
        </p:nvSpPr>
        <p:spPr>
          <a:xfrm flipH="false" flipV="false" rot="0">
            <a:off x="947890" y="3467995"/>
            <a:ext cx="677018" cy="677018"/>
          </a:xfrm>
          <a:custGeom>
            <a:avLst/>
            <a:gdLst/>
            <a:ahLst/>
            <a:cxnLst/>
            <a:rect r="r" b="b" t="t" l="l"/>
            <a:pathLst>
              <a:path h="677018" w="677018">
                <a:moveTo>
                  <a:pt x="0" y="0"/>
                </a:moveTo>
                <a:lnTo>
                  <a:pt x="677018" y="0"/>
                </a:lnTo>
                <a:lnTo>
                  <a:pt x="677018" y="677018"/>
                </a:lnTo>
                <a:lnTo>
                  <a:pt x="0" y="677018"/>
                </a:lnTo>
                <a:lnTo>
                  <a:pt x="0" y="0"/>
                </a:lnTo>
                <a:close/>
              </a:path>
            </a:pathLst>
          </a:custGeom>
          <a:blipFill>
            <a:blip r:embed="rId2">
              <a:extLst>
                <a:ext uri="{96DAC541-7B7A-43D3-8B79-37D633B846F1}">
                  <asvg:svgBlip xmlns:asvg="http://schemas.microsoft.com/office/drawing/2016/SVG/main" r:embed="rId3"/>
                </a:ext>
              </a:extLst>
            </a:blip>
            <a:stretch>
              <a:fillRect l="0" t="-6944" r="0" b="-6944"/>
            </a:stretch>
          </a:blipFill>
        </p:spPr>
      </p:sp>
      <p:sp>
        <p:nvSpPr>
          <p:cNvPr name="TextBox 5" id="5"/>
          <p:cNvSpPr txBox="true"/>
          <p:nvPr/>
        </p:nvSpPr>
        <p:spPr>
          <a:xfrm rot="0">
            <a:off x="947890" y="4454871"/>
            <a:ext cx="2793876" cy="441325"/>
          </a:xfrm>
          <a:prstGeom prst="rect">
            <a:avLst/>
          </a:prstGeom>
        </p:spPr>
        <p:txBody>
          <a:bodyPr anchor="t" rtlCol="false" tIns="0" lIns="0" bIns="0" rIns="0">
            <a:spAutoFit/>
          </a:bodyPr>
          <a:lstStyle/>
          <a:p>
            <a:pPr algn="l">
              <a:lnSpc>
                <a:spcPts val="3500"/>
              </a:lnSpc>
            </a:pPr>
            <a:r>
              <a:rPr lang="en-US" b="true" sz="2750">
                <a:solidFill>
                  <a:srgbClr val="365B6D"/>
                </a:solidFill>
                <a:latin typeface="Barlow Semi-Bold"/>
                <a:ea typeface="Barlow Semi-Bold"/>
                <a:cs typeface="Barlow Semi-Bold"/>
                <a:sym typeface="Barlow Semi-Bold"/>
              </a:rPr>
              <a:t>Formulary Lookup</a:t>
            </a:r>
          </a:p>
        </p:txBody>
      </p:sp>
      <p:sp>
        <p:nvSpPr>
          <p:cNvPr name="TextBox 6" id="6"/>
          <p:cNvSpPr txBox="true"/>
          <p:nvPr/>
        </p:nvSpPr>
        <p:spPr>
          <a:xfrm rot="0">
            <a:off x="947890" y="5014912"/>
            <a:ext cx="8026898" cy="8096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Matches a drug name to RxCUI values via RxNav, then narrows results to the patient's specific formulary_id.</a:t>
            </a:r>
          </a:p>
        </p:txBody>
      </p:sp>
      <p:sp>
        <p:nvSpPr>
          <p:cNvPr name="Freeform 7" id="7" descr="preencoded.png"/>
          <p:cNvSpPr/>
          <p:nvPr/>
        </p:nvSpPr>
        <p:spPr>
          <a:xfrm flipH="false" flipV="false" rot="0">
            <a:off x="9313221" y="3467995"/>
            <a:ext cx="677018" cy="677018"/>
          </a:xfrm>
          <a:custGeom>
            <a:avLst/>
            <a:gdLst/>
            <a:ahLst/>
            <a:cxnLst/>
            <a:rect r="r" b="b" t="t" l="l"/>
            <a:pathLst>
              <a:path h="677018" w="677018">
                <a:moveTo>
                  <a:pt x="0" y="0"/>
                </a:moveTo>
                <a:lnTo>
                  <a:pt x="677018" y="0"/>
                </a:lnTo>
                <a:lnTo>
                  <a:pt x="677018" y="677018"/>
                </a:lnTo>
                <a:lnTo>
                  <a:pt x="0" y="6770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9313221" y="4454871"/>
            <a:ext cx="2383185" cy="441325"/>
          </a:xfrm>
          <a:prstGeom prst="rect">
            <a:avLst/>
          </a:prstGeom>
        </p:spPr>
        <p:txBody>
          <a:bodyPr anchor="t" rtlCol="false" tIns="0" lIns="0" bIns="0" rIns="0">
            <a:spAutoFit/>
          </a:bodyPr>
          <a:lstStyle/>
          <a:p>
            <a:pPr algn="l">
              <a:lnSpc>
                <a:spcPts val="3500"/>
              </a:lnSpc>
            </a:pPr>
            <a:r>
              <a:rPr lang="en-US" b="true" sz="2750">
                <a:solidFill>
                  <a:srgbClr val="365B6D"/>
                </a:solidFill>
                <a:latin typeface="Barlow Semi-Bold"/>
                <a:ea typeface="Barlow Semi-Bold"/>
                <a:cs typeface="Barlow Semi-Bold"/>
                <a:sym typeface="Barlow Semi-Bold"/>
              </a:rPr>
              <a:t>Coverage Rules</a:t>
            </a:r>
          </a:p>
        </p:txBody>
      </p:sp>
      <p:sp>
        <p:nvSpPr>
          <p:cNvPr name="TextBox 9" id="9"/>
          <p:cNvSpPr txBox="true"/>
          <p:nvPr/>
        </p:nvSpPr>
        <p:spPr>
          <a:xfrm rot="0">
            <a:off x="9313221" y="5014912"/>
            <a:ext cx="8026898" cy="8096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Returns tier level, prior auth requirements, step therapy flags, and quantity limits, not just a yes/no.</a:t>
            </a:r>
          </a:p>
        </p:txBody>
      </p:sp>
      <p:sp>
        <p:nvSpPr>
          <p:cNvPr name="Freeform 10" id="10" descr="preencoded.png"/>
          <p:cNvSpPr/>
          <p:nvPr/>
        </p:nvSpPr>
        <p:spPr>
          <a:xfrm flipH="false" flipV="false" rot="0">
            <a:off x="947890" y="6499469"/>
            <a:ext cx="677018" cy="677018"/>
          </a:xfrm>
          <a:custGeom>
            <a:avLst/>
            <a:gdLst/>
            <a:ahLst/>
            <a:cxnLst/>
            <a:rect r="r" b="b" t="t" l="l"/>
            <a:pathLst>
              <a:path h="677018" w="677018">
                <a:moveTo>
                  <a:pt x="0" y="0"/>
                </a:moveTo>
                <a:lnTo>
                  <a:pt x="677018" y="0"/>
                </a:lnTo>
                <a:lnTo>
                  <a:pt x="677018" y="677018"/>
                </a:lnTo>
                <a:lnTo>
                  <a:pt x="0" y="677018"/>
                </a:lnTo>
                <a:lnTo>
                  <a:pt x="0" y="0"/>
                </a:lnTo>
                <a:close/>
              </a:path>
            </a:pathLst>
          </a:custGeom>
          <a:blipFill>
            <a:blip r:embed="rId6">
              <a:extLst>
                <a:ext uri="{96DAC541-7B7A-43D3-8B79-37D633B846F1}">
                  <asvg:svgBlip xmlns:asvg="http://schemas.microsoft.com/office/drawing/2016/SVG/main" r:embed="rId7"/>
                </a:ext>
              </a:extLst>
            </a:blip>
            <a:stretch>
              <a:fillRect l="0" t="-3472" r="0" b="-3472"/>
            </a:stretch>
          </a:blipFill>
        </p:spPr>
      </p:sp>
      <p:sp>
        <p:nvSpPr>
          <p:cNvPr name="TextBox 11" id="11"/>
          <p:cNvSpPr txBox="true"/>
          <p:nvPr/>
        </p:nvSpPr>
        <p:spPr>
          <a:xfrm rot="0">
            <a:off x="947890" y="7486355"/>
            <a:ext cx="3064594" cy="441325"/>
          </a:xfrm>
          <a:prstGeom prst="rect">
            <a:avLst/>
          </a:prstGeom>
        </p:spPr>
        <p:txBody>
          <a:bodyPr anchor="t" rtlCol="false" tIns="0" lIns="0" bIns="0" rIns="0">
            <a:spAutoFit/>
          </a:bodyPr>
          <a:lstStyle/>
          <a:p>
            <a:pPr algn="l">
              <a:lnSpc>
                <a:spcPts val="3500"/>
              </a:lnSpc>
            </a:pPr>
            <a:r>
              <a:rPr lang="en-US" b="true" sz="2750">
                <a:solidFill>
                  <a:srgbClr val="365B6D"/>
                </a:solidFill>
                <a:latin typeface="Barlow Semi-Bold"/>
                <a:ea typeface="Barlow Semi-Bold"/>
                <a:cs typeface="Barlow Semi-Bold"/>
                <a:sym typeface="Barlow Semi-Bold"/>
              </a:rPr>
              <a:t>PA Draft Generation</a:t>
            </a:r>
          </a:p>
        </p:txBody>
      </p:sp>
      <p:sp>
        <p:nvSpPr>
          <p:cNvPr name="TextBox 12" id="12"/>
          <p:cNvSpPr txBox="true"/>
          <p:nvPr/>
        </p:nvSpPr>
        <p:spPr>
          <a:xfrm rot="0">
            <a:off x="947890" y="8046396"/>
            <a:ext cx="8026898" cy="8096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Sends Provider and Patient clinical data from EHR  to AI, generating a ready to use complete PA letter in Markdown.</a:t>
            </a:r>
          </a:p>
        </p:txBody>
      </p:sp>
      <p:sp>
        <p:nvSpPr>
          <p:cNvPr name="Freeform 13" id="13" descr="preencoded.png"/>
          <p:cNvSpPr/>
          <p:nvPr/>
        </p:nvSpPr>
        <p:spPr>
          <a:xfrm flipH="false" flipV="false" rot="0">
            <a:off x="9313221" y="6499469"/>
            <a:ext cx="677018" cy="677018"/>
          </a:xfrm>
          <a:custGeom>
            <a:avLst/>
            <a:gdLst/>
            <a:ahLst/>
            <a:cxnLst/>
            <a:rect r="r" b="b" t="t" l="l"/>
            <a:pathLst>
              <a:path h="677018" w="677018">
                <a:moveTo>
                  <a:pt x="0" y="0"/>
                </a:moveTo>
                <a:lnTo>
                  <a:pt x="677018" y="0"/>
                </a:lnTo>
                <a:lnTo>
                  <a:pt x="677018" y="677018"/>
                </a:lnTo>
                <a:lnTo>
                  <a:pt x="0" y="677018"/>
                </a:lnTo>
                <a:lnTo>
                  <a:pt x="0" y="0"/>
                </a:lnTo>
                <a:close/>
              </a:path>
            </a:pathLst>
          </a:custGeom>
          <a:blipFill>
            <a:blip r:embed="rId8">
              <a:extLst>
                <a:ext uri="{96DAC541-7B7A-43D3-8B79-37D633B846F1}">
                  <asvg:svgBlip xmlns:asvg="http://schemas.microsoft.com/office/drawing/2016/SVG/main" r:embed="rId9"/>
                </a:ext>
              </a:extLst>
            </a:blip>
            <a:stretch>
              <a:fillRect l="-1388" t="0" r="-1388" b="0"/>
            </a:stretch>
          </a:blipFill>
        </p:spPr>
      </p:sp>
      <p:sp>
        <p:nvSpPr>
          <p:cNvPr name="TextBox 14" id="14"/>
          <p:cNvSpPr txBox="true"/>
          <p:nvPr/>
        </p:nvSpPr>
        <p:spPr>
          <a:xfrm rot="0">
            <a:off x="9313221" y="7486355"/>
            <a:ext cx="3420070" cy="441325"/>
          </a:xfrm>
          <a:prstGeom prst="rect">
            <a:avLst/>
          </a:prstGeom>
        </p:spPr>
        <p:txBody>
          <a:bodyPr anchor="t" rtlCol="false" tIns="0" lIns="0" bIns="0" rIns="0">
            <a:spAutoFit/>
          </a:bodyPr>
          <a:lstStyle/>
          <a:p>
            <a:pPr algn="l">
              <a:lnSpc>
                <a:spcPts val="3500"/>
              </a:lnSpc>
            </a:pPr>
            <a:r>
              <a:rPr lang="en-US" b="true" sz="2750">
                <a:solidFill>
                  <a:srgbClr val="365B6D"/>
                </a:solidFill>
                <a:latin typeface="Barlow Semi-Bold"/>
                <a:ea typeface="Barlow Semi-Bold"/>
                <a:cs typeface="Barlow Semi-Bold"/>
                <a:sym typeface="Barlow Semi-Bold"/>
              </a:rPr>
              <a:t>Tier Change Detection</a:t>
            </a:r>
          </a:p>
        </p:txBody>
      </p:sp>
      <p:sp>
        <p:nvSpPr>
          <p:cNvPr name="TextBox 15" id="15"/>
          <p:cNvSpPr txBox="true"/>
          <p:nvPr/>
        </p:nvSpPr>
        <p:spPr>
          <a:xfrm rot="0">
            <a:off x="9313221" y="8046396"/>
            <a:ext cx="8026898" cy="8096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Compares formulary snapshots across two dates — surfaces medications that moved tiers between billing cycles.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65B6D"/>
        </a:solidFill>
      </p:bgPr>
    </p:bg>
    <p:spTree>
      <p:nvGrpSpPr>
        <p:cNvPr id="1" name=""/>
        <p:cNvGrpSpPr/>
        <p:nvPr/>
      </p:nvGrpSpPr>
      <p:grpSpPr>
        <a:xfrm>
          <a:off x="0" y="0"/>
          <a:ext cx="0" cy="0"/>
          <a:chOff x="0" y="0"/>
          <a:chExt cx="0" cy="0"/>
        </a:xfrm>
      </p:grpSpPr>
      <p:grpSp>
        <p:nvGrpSpPr>
          <p:cNvPr name="Group 2" id="2"/>
          <p:cNvGrpSpPr/>
          <p:nvPr/>
        </p:nvGrpSpPr>
        <p:grpSpPr>
          <a:xfrm rot="0">
            <a:off x="0" y="0"/>
            <a:ext cx="11430000" cy="10287000"/>
            <a:chOff x="0" y="0"/>
            <a:chExt cx="15240000" cy="13716000"/>
          </a:xfrm>
        </p:grpSpPr>
        <p:sp>
          <p:nvSpPr>
            <p:cNvPr name="Freeform 3" id="3" descr="preencoded.png"/>
            <p:cNvSpPr/>
            <p:nvPr/>
          </p:nvSpPr>
          <p:spPr>
            <a:xfrm flipH="false" flipV="false" rot="0">
              <a:off x="0" y="0"/>
              <a:ext cx="15240000" cy="13716000"/>
            </a:xfrm>
            <a:custGeom>
              <a:avLst/>
              <a:gdLst/>
              <a:ahLst/>
              <a:cxnLst/>
              <a:rect r="r" b="b" t="t" l="l"/>
              <a:pathLst>
                <a:path h="13716000" w="15240000">
                  <a:moveTo>
                    <a:pt x="0" y="0"/>
                  </a:moveTo>
                  <a:lnTo>
                    <a:pt x="15240000" y="0"/>
                  </a:lnTo>
                  <a:lnTo>
                    <a:pt x="15240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2348267" y="701278"/>
            <a:ext cx="5021466" cy="1714500"/>
          </a:xfrm>
          <a:prstGeom prst="rect">
            <a:avLst/>
          </a:prstGeom>
        </p:spPr>
        <p:txBody>
          <a:bodyPr anchor="t" rtlCol="false" tIns="0" lIns="0" bIns="0" rIns="0">
            <a:spAutoFit/>
          </a:bodyPr>
          <a:lstStyle/>
          <a:p>
            <a:pPr algn="l">
              <a:lnSpc>
                <a:spcPts val="6750"/>
              </a:lnSpc>
            </a:pPr>
            <a:r>
              <a:rPr lang="en-US" b="true" sz="5375">
                <a:solidFill>
                  <a:srgbClr val="F7F7F7"/>
                </a:solidFill>
                <a:latin typeface="Barlow Bold"/>
                <a:ea typeface="Barlow Bold"/>
                <a:cs typeface="Barlow Bold"/>
                <a:sym typeface="Barlow Bold"/>
              </a:rPr>
              <a:t>The Provider Workflow</a:t>
            </a:r>
          </a:p>
        </p:txBody>
      </p:sp>
      <p:sp>
        <p:nvSpPr>
          <p:cNvPr name="TextBox 5" id="5"/>
          <p:cNvSpPr txBox="true"/>
          <p:nvPr/>
        </p:nvSpPr>
        <p:spPr>
          <a:xfrm rot="0">
            <a:off x="12348267" y="2770137"/>
            <a:ext cx="5021466" cy="1616075"/>
          </a:xfrm>
          <a:prstGeom prst="rect">
            <a:avLst/>
          </a:prstGeom>
        </p:spPr>
        <p:txBody>
          <a:bodyPr anchor="t" rtlCol="false" tIns="0" lIns="0" bIns="0" rIns="0">
            <a:spAutoFit/>
          </a:bodyPr>
          <a:lstStyle/>
          <a:p>
            <a:pPr algn="l">
              <a:lnSpc>
                <a:spcPts val="3250"/>
              </a:lnSpc>
            </a:pPr>
            <a:r>
              <a:rPr lang="en-US" sz="2062" spc="8">
                <a:solidFill>
                  <a:srgbClr val="F2F1EC"/>
                </a:solidFill>
                <a:latin typeface="Barlow"/>
                <a:ea typeface="Barlow"/>
                <a:cs typeface="Barlow"/>
                <a:sym typeface="Barlow"/>
              </a:rPr>
              <a:t>The frontend turns backend capabilities into a guided, step-by-step experience. Every action is contextualized by patient and plan data, no switching between tools.</a:t>
            </a:r>
          </a:p>
        </p:txBody>
      </p:sp>
      <p:grpSp>
        <p:nvGrpSpPr>
          <p:cNvPr name="Group 6" id="6"/>
          <p:cNvGrpSpPr/>
          <p:nvPr/>
        </p:nvGrpSpPr>
        <p:grpSpPr>
          <a:xfrm rot="0">
            <a:off x="12542196" y="5197973"/>
            <a:ext cx="4633465" cy="1998021"/>
            <a:chOff x="0" y="0"/>
            <a:chExt cx="6177953" cy="2664028"/>
          </a:xfrm>
        </p:grpSpPr>
        <p:sp>
          <p:nvSpPr>
            <p:cNvPr name="Freeform 7" id="7" descr="preencoded.png"/>
            <p:cNvSpPr/>
            <p:nvPr/>
          </p:nvSpPr>
          <p:spPr>
            <a:xfrm flipH="false" flipV="false" rot="0">
              <a:off x="0" y="0"/>
              <a:ext cx="6177915" cy="2664079"/>
            </a:xfrm>
            <a:custGeom>
              <a:avLst/>
              <a:gdLst/>
              <a:ahLst/>
              <a:cxnLst/>
              <a:rect r="r" b="b" t="t" l="l"/>
              <a:pathLst>
                <a:path h="2664079" w="6177915">
                  <a:moveTo>
                    <a:pt x="0" y="0"/>
                  </a:moveTo>
                  <a:lnTo>
                    <a:pt x="6177915" y="0"/>
                  </a:lnTo>
                  <a:lnTo>
                    <a:pt x="6177915" y="2664079"/>
                  </a:lnTo>
                  <a:lnTo>
                    <a:pt x="0" y="2664079"/>
                  </a:lnTo>
                  <a:lnTo>
                    <a:pt x="0" y="0"/>
                  </a:lnTo>
                  <a:close/>
                </a:path>
              </a:pathLst>
            </a:custGeom>
            <a:blipFill>
              <a:blip r:embed="rId3"/>
              <a:stretch>
                <a:fillRect l="0" t="-102" r="0" b="-100"/>
              </a:stretch>
            </a:blipFill>
          </p:spPr>
        </p:sp>
      </p:grpSp>
      <p:sp>
        <p:nvSpPr>
          <p:cNvPr name="TextBox 8" id="8"/>
          <p:cNvSpPr txBox="true"/>
          <p:nvPr/>
        </p:nvSpPr>
        <p:spPr>
          <a:xfrm rot="0">
            <a:off x="12854016" y="6804060"/>
            <a:ext cx="1106414" cy="131763"/>
          </a:xfrm>
          <a:prstGeom prst="rect">
            <a:avLst/>
          </a:prstGeom>
        </p:spPr>
        <p:txBody>
          <a:bodyPr anchor="t" rtlCol="false" tIns="0" lIns="0" bIns="0" rIns="0">
            <a:spAutoFit/>
          </a:bodyPr>
          <a:lstStyle/>
          <a:p>
            <a:pPr algn="l">
              <a:lnSpc>
                <a:spcPts val="1062"/>
              </a:lnSpc>
            </a:pPr>
            <a:r>
              <a:rPr lang="en-US" sz="812" spc="3">
                <a:solidFill>
                  <a:srgbClr val="F7F7F7"/>
                </a:solidFill>
                <a:latin typeface="Barlow"/>
                <a:ea typeface="Barlow"/>
                <a:cs typeface="Barlow"/>
                <a:sym typeface="Barlow"/>
              </a:rPr>
              <a:t>Search Drug</a:t>
            </a:r>
          </a:p>
        </p:txBody>
      </p:sp>
      <p:sp>
        <p:nvSpPr>
          <p:cNvPr name="TextBox 9" id="9"/>
          <p:cNvSpPr txBox="true"/>
          <p:nvPr/>
        </p:nvSpPr>
        <p:spPr>
          <a:xfrm rot="0">
            <a:off x="12854016" y="6341554"/>
            <a:ext cx="1106414" cy="131763"/>
          </a:xfrm>
          <a:prstGeom prst="rect">
            <a:avLst/>
          </a:prstGeom>
        </p:spPr>
        <p:txBody>
          <a:bodyPr anchor="t" rtlCol="false" tIns="0" lIns="0" bIns="0" rIns="0">
            <a:spAutoFit/>
          </a:bodyPr>
          <a:lstStyle/>
          <a:p>
            <a:pPr algn="l">
              <a:lnSpc>
                <a:spcPts val="1062"/>
              </a:lnSpc>
            </a:pPr>
            <a:r>
              <a:rPr lang="en-US" sz="812" spc="3">
                <a:solidFill>
                  <a:srgbClr val="F7F7F7"/>
                </a:solidFill>
                <a:latin typeface="Barlow"/>
                <a:ea typeface="Barlow"/>
                <a:cs typeface="Barlow"/>
                <a:sym typeface="Barlow"/>
              </a:rPr>
              <a:t>Load Plan</a:t>
            </a:r>
          </a:p>
        </p:txBody>
      </p:sp>
      <p:sp>
        <p:nvSpPr>
          <p:cNvPr name="TextBox 10" id="10"/>
          <p:cNvSpPr txBox="true"/>
          <p:nvPr/>
        </p:nvSpPr>
        <p:spPr>
          <a:xfrm rot="0">
            <a:off x="12854016" y="5883716"/>
            <a:ext cx="1106414" cy="131763"/>
          </a:xfrm>
          <a:prstGeom prst="rect">
            <a:avLst/>
          </a:prstGeom>
        </p:spPr>
        <p:txBody>
          <a:bodyPr anchor="t" rtlCol="false" tIns="0" lIns="0" bIns="0" rIns="0">
            <a:spAutoFit/>
          </a:bodyPr>
          <a:lstStyle/>
          <a:p>
            <a:pPr algn="l">
              <a:lnSpc>
                <a:spcPts val="1062"/>
              </a:lnSpc>
            </a:pPr>
            <a:r>
              <a:rPr lang="en-US" sz="812" spc="3">
                <a:solidFill>
                  <a:srgbClr val="F7F7F7"/>
                </a:solidFill>
                <a:latin typeface="Barlow"/>
                <a:ea typeface="Barlow"/>
                <a:cs typeface="Barlow"/>
                <a:sym typeface="Barlow"/>
              </a:rPr>
              <a:t>Select Patient</a:t>
            </a:r>
          </a:p>
        </p:txBody>
      </p:sp>
      <p:sp>
        <p:nvSpPr>
          <p:cNvPr name="TextBox 11" id="11"/>
          <p:cNvSpPr txBox="true"/>
          <p:nvPr/>
        </p:nvSpPr>
        <p:spPr>
          <a:xfrm rot="0">
            <a:off x="12854016" y="5421211"/>
            <a:ext cx="1106414" cy="131763"/>
          </a:xfrm>
          <a:prstGeom prst="rect">
            <a:avLst/>
          </a:prstGeom>
        </p:spPr>
        <p:txBody>
          <a:bodyPr anchor="t" rtlCol="false" tIns="0" lIns="0" bIns="0" rIns="0">
            <a:spAutoFit/>
          </a:bodyPr>
          <a:lstStyle/>
          <a:p>
            <a:pPr algn="l">
              <a:lnSpc>
                <a:spcPts val="1062"/>
              </a:lnSpc>
            </a:pPr>
            <a:r>
              <a:rPr lang="en-US" sz="812" spc="3">
                <a:solidFill>
                  <a:srgbClr val="F7F7F7"/>
                </a:solidFill>
                <a:latin typeface="Barlow"/>
                <a:ea typeface="Barlow"/>
                <a:cs typeface="Barlow"/>
                <a:sym typeface="Barlow"/>
              </a:rPr>
              <a:t>Provider Login</a:t>
            </a:r>
          </a:p>
        </p:txBody>
      </p:sp>
      <p:sp>
        <p:nvSpPr>
          <p:cNvPr name="TextBox 12" id="12"/>
          <p:cNvSpPr txBox="true"/>
          <p:nvPr/>
        </p:nvSpPr>
        <p:spPr>
          <a:xfrm rot="0">
            <a:off x="12348267" y="7405688"/>
            <a:ext cx="5021466" cy="1616075"/>
          </a:xfrm>
          <a:prstGeom prst="rect">
            <a:avLst/>
          </a:prstGeom>
        </p:spPr>
        <p:txBody>
          <a:bodyPr anchor="t" rtlCol="false" tIns="0" lIns="0" bIns="0" rIns="0">
            <a:spAutoFit/>
          </a:bodyPr>
          <a:lstStyle/>
          <a:p>
            <a:pPr algn="l">
              <a:lnSpc>
                <a:spcPts val="3250"/>
              </a:lnSpc>
            </a:pPr>
            <a:r>
              <a:rPr lang="en-US" sz="2062" spc="8">
                <a:solidFill>
                  <a:srgbClr val="F2F1EC"/>
                </a:solidFill>
                <a:latin typeface="Barlow"/>
                <a:ea typeface="Barlow"/>
                <a:cs typeface="Barlow"/>
                <a:sym typeface="Barlow"/>
              </a:rPr>
              <a:t>The dashboard surfaces patient diagnosis, clinical notes, and coverage rules at every step, so the provider always has context before taking action.</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4063117" y="874309"/>
            <a:ext cx="7973392" cy="882650"/>
          </a:xfrm>
          <a:prstGeom prst="rect">
            <a:avLst/>
          </a:prstGeom>
        </p:spPr>
        <p:txBody>
          <a:bodyPr anchor="t" rtlCol="false" tIns="0" lIns="0" bIns="0" rIns="0">
            <a:spAutoFit/>
          </a:bodyPr>
          <a:lstStyle/>
          <a:p>
            <a:pPr algn="l">
              <a:lnSpc>
                <a:spcPts val="7000"/>
              </a:lnSpc>
            </a:pPr>
            <a:r>
              <a:rPr lang="en-US" b="true" sz="5562">
                <a:solidFill>
                  <a:srgbClr val="6C9286"/>
                </a:solidFill>
                <a:latin typeface="Barlow Semi-Bold"/>
                <a:ea typeface="Barlow Semi-Bold"/>
                <a:cs typeface="Barlow Semi-Bold"/>
                <a:sym typeface="Barlow Semi-Bold"/>
              </a:rPr>
              <a:t>Secure AI + Ease of AI use</a:t>
            </a:r>
          </a:p>
        </p:txBody>
      </p:sp>
      <p:sp>
        <p:nvSpPr>
          <p:cNvPr name="TextBox 3" id="3"/>
          <p:cNvSpPr txBox="true"/>
          <p:nvPr/>
        </p:nvSpPr>
        <p:spPr>
          <a:xfrm rot="0">
            <a:off x="1799530" y="2284314"/>
            <a:ext cx="16152285" cy="4343400"/>
          </a:xfrm>
          <a:prstGeom prst="rect">
            <a:avLst/>
          </a:prstGeom>
        </p:spPr>
        <p:txBody>
          <a:bodyPr anchor="t" rtlCol="false" tIns="0" lIns="0" bIns="0" rIns="0">
            <a:spAutoFit/>
          </a:bodyPr>
          <a:lstStyle/>
          <a:p>
            <a:pPr algn="l">
              <a:lnSpc>
                <a:spcPts val="3375"/>
              </a:lnSpc>
            </a:pPr>
          </a:p>
          <a:p>
            <a:pPr algn="l">
              <a:lnSpc>
                <a:spcPts val="3375"/>
              </a:lnSpc>
            </a:pPr>
          </a:p>
          <a:p>
            <a:pPr algn="l">
              <a:lnSpc>
                <a:spcPts val="3375"/>
              </a:lnSpc>
            </a:pPr>
          </a:p>
          <a:p>
            <a:pPr algn="l" marL="678656" indent="-339328" lvl="1">
              <a:lnSpc>
                <a:spcPts val="3375"/>
              </a:lnSpc>
              <a:buFont typeface="Arial"/>
              <a:buChar char="•"/>
            </a:pPr>
            <a:r>
              <a:rPr lang="en-US" sz="4500" spc="18">
                <a:solidFill>
                  <a:srgbClr val="365B6D"/>
                </a:solidFill>
                <a:latin typeface="Barlow"/>
                <a:ea typeface="Barlow"/>
                <a:cs typeface="Barlow"/>
                <a:sym typeface="Barlow"/>
              </a:rPr>
              <a:t>PII - Personally Identifiable Information.</a:t>
            </a:r>
          </a:p>
          <a:p>
            <a:pPr algn="l" marL="678656" indent="-339328" lvl="1">
              <a:lnSpc>
                <a:spcPts val="3375"/>
              </a:lnSpc>
            </a:pPr>
          </a:p>
          <a:p>
            <a:pPr algn="l" marL="678656" indent="-339328" lvl="1">
              <a:lnSpc>
                <a:spcPts val="3375"/>
              </a:lnSpc>
            </a:pPr>
          </a:p>
          <a:p>
            <a:pPr algn="l" marL="678656" indent="-339328" lvl="1">
              <a:lnSpc>
                <a:spcPts val="3375"/>
              </a:lnSpc>
              <a:buFont typeface="Arial"/>
              <a:buChar char="•"/>
            </a:pPr>
            <a:r>
              <a:rPr lang="en-US" sz="4500" spc="18" u="sng">
                <a:solidFill>
                  <a:srgbClr val="365B6D"/>
                </a:solidFill>
                <a:latin typeface="Barlow"/>
                <a:ea typeface="Barlow"/>
                <a:cs typeface="Barlow"/>
                <a:sym typeface="Barlow"/>
              </a:rPr>
              <a:t>PII Masking </a:t>
            </a:r>
            <a:r>
              <a:rPr lang="en-US" sz="4500" spc="18">
                <a:solidFill>
                  <a:srgbClr val="365B6D"/>
                </a:solidFill>
                <a:latin typeface="Barlow"/>
                <a:ea typeface="Barlow"/>
                <a:cs typeface="Barlow"/>
                <a:sym typeface="Barlow"/>
              </a:rPr>
              <a:t>instead of </a:t>
            </a:r>
            <a:r>
              <a:rPr lang="en-US" sz="4500" spc="18" u="sng">
                <a:solidFill>
                  <a:srgbClr val="365B6D"/>
                </a:solidFill>
                <a:latin typeface="Barlow"/>
                <a:ea typeface="Barlow"/>
                <a:cs typeface="Barlow"/>
                <a:sym typeface="Barlow"/>
              </a:rPr>
              <a:t>Hosting a model </a:t>
            </a:r>
            <a:r>
              <a:rPr lang="en-US" sz="4500" spc="18">
                <a:solidFill>
                  <a:srgbClr val="365B6D"/>
                </a:solidFill>
                <a:latin typeface="Barlow"/>
                <a:ea typeface="Barlow"/>
                <a:cs typeface="Barlow"/>
                <a:sym typeface="Barlow"/>
              </a:rPr>
              <a:t>it etc..</a:t>
            </a:r>
          </a:p>
          <a:p>
            <a:pPr algn="l" marL="678656" indent="-339328" lvl="1">
              <a:lnSpc>
                <a:spcPts val="3375"/>
              </a:lnSpc>
            </a:pPr>
          </a:p>
          <a:p>
            <a:pPr algn="l" marL="678656" indent="-339328" lvl="1">
              <a:lnSpc>
                <a:spcPts val="3375"/>
              </a:lnSpc>
            </a:pPr>
          </a:p>
          <a:p>
            <a:pPr algn="l" marL="678656" indent="-339328" lvl="1">
              <a:lnSpc>
                <a:spcPts val="3375"/>
              </a:lnSpc>
            </a:pP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4063117" y="874309"/>
            <a:ext cx="2154659" cy="882650"/>
          </a:xfrm>
          <a:prstGeom prst="rect">
            <a:avLst/>
          </a:prstGeom>
        </p:spPr>
        <p:txBody>
          <a:bodyPr anchor="t" rtlCol="false" tIns="0" lIns="0" bIns="0" rIns="0">
            <a:spAutoFit/>
          </a:bodyPr>
          <a:lstStyle/>
          <a:p>
            <a:pPr algn="l">
              <a:lnSpc>
                <a:spcPts val="7000"/>
              </a:lnSpc>
            </a:pPr>
            <a:r>
              <a:rPr lang="en-US" b="true" sz="5562">
                <a:solidFill>
                  <a:srgbClr val="6C9286"/>
                </a:solidFill>
                <a:latin typeface="Barlow Semi-Bold"/>
                <a:ea typeface="Barlow Semi-Bold"/>
                <a:cs typeface="Barlow Semi-Bold"/>
                <a:sym typeface="Barlow Semi-Bold"/>
              </a:rPr>
              <a:t>Market</a:t>
            </a:r>
          </a:p>
        </p:txBody>
      </p:sp>
      <p:sp>
        <p:nvSpPr>
          <p:cNvPr name="TextBox 3" id="3"/>
          <p:cNvSpPr txBox="true"/>
          <p:nvPr/>
        </p:nvSpPr>
        <p:spPr>
          <a:xfrm rot="0">
            <a:off x="1799530" y="2246214"/>
            <a:ext cx="16152285" cy="5266606"/>
          </a:xfrm>
          <a:prstGeom prst="rect">
            <a:avLst/>
          </a:prstGeom>
        </p:spPr>
        <p:txBody>
          <a:bodyPr anchor="t" rtlCol="false" tIns="0" lIns="0" bIns="0" rIns="0">
            <a:spAutoFit/>
          </a:bodyPr>
          <a:lstStyle/>
          <a:p>
            <a:pPr algn="l">
              <a:lnSpc>
                <a:spcPts val="2990"/>
              </a:lnSpc>
            </a:pPr>
          </a:p>
          <a:p>
            <a:pPr algn="l">
              <a:lnSpc>
                <a:spcPts val="2990"/>
              </a:lnSpc>
            </a:pPr>
          </a:p>
          <a:p>
            <a:pPr algn="l">
              <a:lnSpc>
                <a:spcPts val="2990"/>
              </a:lnSpc>
            </a:pPr>
          </a:p>
          <a:p>
            <a:pPr algn="l" marL="601353" indent="-300676" lvl="1">
              <a:lnSpc>
                <a:spcPts val="2990"/>
              </a:lnSpc>
              <a:buFont typeface="Arial"/>
              <a:buChar char="•"/>
            </a:pPr>
            <a:r>
              <a:rPr lang="en-US" sz="3987" spc="15">
                <a:solidFill>
                  <a:srgbClr val="365B6D"/>
                </a:solidFill>
                <a:latin typeface="Barlow"/>
                <a:ea typeface="Barlow"/>
                <a:cs typeface="Barlow"/>
                <a:sym typeface="Barlow"/>
              </a:rPr>
              <a:t>Mass market.</a:t>
            </a:r>
          </a:p>
          <a:p>
            <a:pPr algn="l" marL="601353" indent="-300676" lvl="1">
              <a:lnSpc>
                <a:spcPts val="2990"/>
              </a:lnSpc>
            </a:pPr>
          </a:p>
          <a:p>
            <a:pPr algn="l" marL="601353" indent="-300676" lvl="1">
              <a:lnSpc>
                <a:spcPts val="2990"/>
              </a:lnSpc>
            </a:pPr>
          </a:p>
          <a:p>
            <a:pPr algn="l" marL="601353" indent="-300676" lvl="1">
              <a:lnSpc>
                <a:spcPts val="2990"/>
              </a:lnSpc>
              <a:buFont typeface="Arial"/>
              <a:buChar char="•"/>
            </a:pPr>
            <a:r>
              <a:rPr lang="en-US" sz="3987" spc="15" u="sng">
                <a:solidFill>
                  <a:srgbClr val="365B6D"/>
                </a:solidFill>
                <a:latin typeface="Barlow"/>
                <a:ea typeface="Barlow"/>
                <a:cs typeface="Barlow"/>
                <a:sym typeface="Barlow"/>
              </a:rPr>
              <a:t>Affordable</a:t>
            </a:r>
            <a:r>
              <a:rPr lang="en-US" sz="3987" spc="15">
                <a:solidFill>
                  <a:srgbClr val="365B6D"/>
                </a:solidFill>
                <a:latin typeface="Barlow"/>
                <a:ea typeface="Barlow"/>
                <a:cs typeface="Barlow"/>
                <a:sym typeface="Barlow"/>
              </a:rPr>
              <a:t> (not only major EHRs)</a:t>
            </a:r>
          </a:p>
          <a:p>
            <a:pPr algn="l" marL="601353" indent="-300676" lvl="1">
              <a:lnSpc>
                <a:spcPts val="2990"/>
              </a:lnSpc>
            </a:pPr>
          </a:p>
          <a:p>
            <a:pPr algn="l" marL="601353" indent="-300676" lvl="1">
              <a:lnSpc>
                <a:spcPts val="2990"/>
              </a:lnSpc>
            </a:pPr>
          </a:p>
          <a:p>
            <a:pPr algn="l" marL="601353" indent="-300676" lvl="1">
              <a:lnSpc>
                <a:spcPts val="2990"/>
              </a:lnSpc>
              <a:buFont typeface="Arial"/>
              <a:buChar char="•"/>
            </a:pPr>
            <a:r>
              <a:rPr lang="en-US" sz="3987" spc="15">
                <a:solidFill>
                  <a:srgbClr val="365B6D"/>
                </a:solidFill>
                <a:latin typeface="Barlow"/>
                <a:ea typeface="Barlow"/>
                <a:cs typeface="Barlow"/>
                <a:sym typeface="Barlow"/>
              </a:rPr>
              <a:t>PBM</a:t>
            </a:r>
          </a:p>
          <a:p>
            <a:pPr algn="l" marL="601353" indent="-300676" lvl="1">
              <a:lnSpc>
                <a:spcPts val="2990"/>
              </a:lnSpc>
            </a:pPr>
          </a:p>
          <a:p>
            <a:pPr algn="l" marL="601353" indent="-300676" lvl="1">
              <a:lnSpc>
                <a:spcPts val="2990"/>
              </a:lnSpc>
            </a:pPr>
          </a:p>
          <a:p>
            <a:pPr algn="l" marL="601353" indent="-300676" lvl="1">
              <a:lnSpc>
                <a:spcPts val="2990"/>
              </a:lnSpc>
              <a:buFont typeface="Arial"/>
              <a:buChar char="•"/>
            </a:pPr>
            <a:r>
              <a:rPr lang="en-US" sz="3987" spc="15">
                <a:solidFill>
                  <a:srgbClr val="365B6D"/>
                </a:solidFill>
                <a:latin typeface="Barlow"/>
                <a:ea typeface="Barlow"/>
                <a:cs typeface="Barlow"/>
                <a:sym typeface="Barlow"/>
              </a:rPr>
              <a:t>Adaptable floats over any EHR.</a:t>
            </a:r>
          </a:p>
          <a:p>
            <a:pPr algn="l" marL="601353" indent="-300676" lvl="1">
              <a:lnSpc>
                <a:spcPts val="2990"/>
              </a:lnSpc>
            </a:pP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4063117" y="874309"/>
            <a:ext cx="7702823" cy="882650"/>
          </a:xfrm>
          <a:prstGeom prst="rect">
            <a:avLst/>
          </a:prstGeom>
        </p:spPr>
        <p:txBody>
          <a:bodyPr anchor="t" rtlCol="false" tIns="0" lIns="0" bIns="0" rIns="0">
            <a:spAutoFit/>
          </a:bodyPr>
          <a:lstStyle/>
          <a:p>
            <a:pPr algn="l">
              <a:lnSpc>
                <a:spcPts val="7000"/>
              </a:lnSpc>
            </a:pPr>
            <a:r>
              <a:rPr lang="en-US" b="true" sz="5562">
                <a:solidFill>
                  <a:srgbClr val="6C9286"/>
                </a:solidFill>
                <a:latin typeface="Barlow Semi-Bold"/>
                <a:ea typeface="Barlow Semi-Bold"/>
                <a:cs typeface="Barlow Semi-Bold"/>
                <a:sym typeface="Barlow Semi-Bold"/>
              </a:rPr>
              <a:t>Quantify - Improvements</a:t>
            </a:r>
          </a:p>
        </p:txBody>
      </p:sp>
      <p:sp>
        <p:nvSpPr>
          <p:cNvPr name="TextBox 3" id="3"/>
          <p:cNvSpPr txBox="true"/>
          <p:nvPr/>
        </p:nvSpPr>
        <p:spPr>
          <a:xfrm rot="0">
            <a:off x="1799530" y="2284314"/>
            <a:ext cx="16152285" cy="1771650"/>
          </a:xfrm>
          <a:prstGeom prst="rect">
            <a:avLst/>
          </a:prstGeom>
        </p:spPr>
        <p:txBody>
          <a:bodyPr anchor="t" rtlCol="false" tIns="0" lIns="0" bIns="0" rIns="0">
            <a:spAutoFit/>
          </a:bodyPr>
          <a:lstStyle/>
          <a:p>
            <a:pPr algn="l">
              <a:lnSpc>
                <a:spcPts val="3375"/>
              </a:lnSpc>
            </a:pPr>
          </a:p>
          <a:p>
            <a:pPr algn="l">
              <a:lnSpc>
                <a:spcPts val="3375"/>
              </a:lnSpc>
            </a:pPr>
          </a:p>
          <a:p>
            <a:pPr algn="l">
              <a:lnSpc>
                <a:spcPts val="3375"/>
              </a:lnSpc>
            </a:pPr>
          </a:p>
          <a:p>
            <a:pPr algn="l" marL="678656" indent="-339328" lvl="1">
              <a:lnSpc>
                <a:spcPts val="3375"/>
              </a:lnSpc>
              <a:buFont typeface="Arial"/>
              <a:buChar char="•"/>
            </a:pPr>
            <a:r>
              <a:rPr lang="en-US" sz="4500" spc="18">
                <a:solidFill>
                  <a:srgbClr val="365B6D"/>
                </a:solidFill>
                <a:latin typeface="Barlow"/>
                <a:ea typeface="Barlow"/>
                <a:cs typeface="Barlow"/>
                <a:sym typeface="Barlow"/>
              </a:rPr>
              <a:t>50% lesser clicks to providers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65B6D"/>
        </a:solidFill>
      </p:bgPr>
    </p:bg>
    <p:spTree>
      <p:nvGrpSpPr>
        <p:cNvPr id="1" name=""/>
        <p:cNvGrpSpPr/>
        <p:nvPr/>
      </p:nvGrpSpPr>
      <p:grpSpPr>
        <a:xfrm>
          <a:off x="0" y="0"/>
          <a:ext cx="0" cy="0"/>
          <a:chOff x="0" y="0"/>
          <a:chExt cx="0" cy="0"/>
        </a:xfrm>
      </p:grpSpPr>
      <p:sp>
        <p:nvSpPr>
          <p:cNvPr name="TextBox 2" id="2"/>
          <p:cNvSpPr txBox="true"/>
          <p:nvPr/>
        </p:nvSpPr>
        <p:spPr>
          <a:xfrm rot="0">
            <a:off x="169326" y="-38100"/>
            <a:ext cx="4292278" cy="882650"/>
          </a:xfrm>
          <a:prstGeom prst="rect">
            <a:avLst/>
          </a:prstGeom>
        </p:spPr>
        <p:txBody>
          <a:bodyPr anchor="t" rtlCol="false" tIns="0" lIns="0" bIns="0" rIns="0">
            <a:spAutoFit/>
          </a:bodyPr>
          <a:lstStyle/>
          <a:p>
            <a:pPr algn="l">
              <a:lnSpc>
                <a:spcPts val="7000"/>
              </a:lnSpc>
            </a:pPr>
            <a:r>
              <a:rPr lang="en-US" b="true" sz="5562">
                <a:solidFill>
                  <a:srgbClr val="F2F1EC"/>
                </a:solidFill>
                <a:latin typeface="Barlow Semi-Bold"/>
                <a:ea typeface="Barlow Semi-Bold"/>
                <a:cs typeface="Barlow Semi-Bold"/>
                <a:sym typeface="Barlow Semi-Bold"/>
              </a:rPr>
              <a:t>Patient Alerts</a:t>
            </a:r>
          </a:p>
        </p:txBody>
      </p:sp>
      <p:grpSp>
        <p:nvGrpSpPr>
          <p:cNvPr name="Group 3" id="3"/>
          <p:cNvGrpSpPr/>
          <p:nvPr/>
        </p:nvGrpSpPr>
        <p:grpSpPr>
          <a:xfrm rot="0">
            <a:off x="1761134" y="1150487"/>
            <a:ext cx="16526866" cy="9136513"/>
            <a:chOff x="0" y="0"/>
            <a:chExt cx="22035821" cy="12182018"/>
          </a:xfrm>
        </p:grpSpPr>
        <p:sp>
          <p:nvSpPr>
            <p:cNvPr name="Freeform 4" id="4"/>
            <p:cNvSpPr/>
            <p:nvPr/>
          </p:nvSpPr>
          <p:spPr>
            <a:xfrm flipH="false" flipV="false" rot="0">
              <a:off x="0" y="0"/>
              <a:ext cx="22035770" cy="12181967"/>
            </a:xfrm>
            <a:custGeom>
              <a:avLst/>
              <a:gdLst/>
              <a:ahLst/>
              <a:cxnLst/>
              <a:rect r="r" b="b" t="t" l="l"/>
              <a:pathLst>
                <a:path h="12181967" w="22035770">
                  <a:moveTo>
                    <a:pt x="0" y="0"/>
                  </a:moveTo>
                  <a:lnTo>
                    <a:pt x="22035770" y="0"/>
                  </a:lnTo>
                  <a:lnTo>
                    <a:pt x="22035770" y="12181967"/>
                  </a:lnTo>
                  <a:lnTo>
                    <a:pt x="0" y="12181967"/>
                  </a:lnTo>
                  <a:lnTo>
                    <a:pt x="0" y="0"/>
                  </a:lnTo>
                  <a:close/>
                </a:path>
              </a:pathLst>
            </a:custGeom>
            <a:blipFill>
              <a:blip r:embed="rId2"/>
              <a:stretch>
                <a:fillRect l="0" t="0" r="0" b="0"/>
              </a:stretch>
            </a:blipFill>
          </p:spPr>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947890" y="1749476"/>
            <a:ext cx="10318031" cy="882650"/>
          </a:xfrm>
          <a:prstGeom prst="rect">
            <a:avLst/>
          </a:prstGeom>
        </p:spPr>
        <p:txBody>
          <a:bodyPr anchor="t" rtlCol="false" tIns="0" lIns="0" bIns="0" rIns="0">
            <a:spAutoFit/>
          </a:bodyPr>
          <a:lstStyle/>
          <a:p>
            <a:pPr algn="l">
              <a:lnSpc>
                <a:spcPts val="7000"/>
              </a:lnSpc>
            </a:pPr>
            <a:r>
              <a:rPr lang="en-US" b="true" sz="5562">
                <a:solidFill>
                  <a:srgbClr val="365B6D"/>
                </a:solidFill>
                <a:latin typeface="Barlow Bold"/>
                <a:ea typeface="Barlow Bold"/>
                <a:cs typeface="Barlow Bold"/>
                <a:sym typeface="Barlow Bold"/>
              </a:rPr>
              <a:t>Formulary Tier Change Detection</a:t>
            </a:r>
          </a:p>
        </p:txBody>
      </p:sp>
      <p:sp>
        <p:nvSpPr>
          <p:cNvPr name="TextBox 3" id="3"/>
          <p:cNvSpPr txBox="true"/>
          <p:nvPr/>
        </p:nvSpPr>
        <p:spPr>
          <a:xfrm rot="0">
            <a:off x="947890" y="3252045"/>
            <a:ext cx="7865716" cy="16478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A medication's tier can change between plan years or mid-cycle, raising a patient's out-of-pocket cost without any change to the drug itself. RxAssist auto compares formulary every week and flags any tier movements.</a:t>
            </a:r>
          </a:p>
        </p:txBody>
      </p:sp>
      <p:sp>
        <p:nvSpPr>
          <p:cNvPr name="TextBox 4" id="4"/>
          <p:cNvSpPr txBox="true"/>
          <p:nvPr/>
        </p:nvSpPr>
        <p:spPr>
          <a:xfrm rot="0">
            <a:off x="947890" y="5303939"/>
            <a:ext cx="2214860" cy="441325"/>
          </a:xfrm>
          <a:prstGeom prst="rect">
            <a:avLst/>
          </a:prstGeom>
        </p:spPr>
        <p:txBody>
          <a:bodyPr anchor="t" rtlCol="false" tIns="0" lIns="0" bIns="0" rIns="0">
            <a:spAutoFit/>
          </a:bodyPr>
          <a:lstStyle/>
          <a:p>
            <a:pPr algn="l">
              <a:lnSpc>
                <a:spcPts val="3500"/>
              </a:lnSpc>
            </a:pPr>
            <a:r>
              <a:rPr lang="en-US" b="true" sz="2750">
                <a:solidFill>
                  <a:srgbClr val="6C9286"/>
                </a:solidFill>
                <a:latin typeface="Barlow Semi-Bold"/>
                <a:ea typeface="Barlow Semi-Bold"/>
                <a:cs typeface="Barlow Semi-Bold"/>
                <a:sym typeface="Barlow Semi-Bold"/>
              </a:rPr>
              <a:t>Why It Matters</a:t>
            </a:r>
          </a:p>
        </p:txBody>
      </p:sp>
      <p:sp>
        <p:nvSpPr>
          <p:cNvPr name="TextBox 5" id="5"/>
          <p:cNvSpPr txBox="true"/>
          <p:nvPr/>
        </p:nvSpPr>
        <p:spPr>
          <a:xfrm rot="0">
            <a:off x="947890" y="5972327"/>
            <a:ext cx="7865716" cy="2066925"/>
          </a:xfrm>
          <a:prstGeom prst="rect">
            <a:avLst/>
          </a:prstGeom>
        </p:spPr>
        <p:txBody>
          <a:bodyPr anchor="t" rtlCol="false" tIns="0" lIns="0" bIns="0" rIns="0">
            <a:spAutoFit/>
          </a:bodyPr>
          <a:lstStyle/>
          <a:p>
            <a:pPr algn="l" marL="320476" indent="-160238" lvl="1">
              <a:lnSpc>
                <a:spcPts val="3374"/>
              </a:lnSpc>
              <a:buFont typeface="Arial"/>
              <a:buChar char="•"/>
            </a:pPr>
            <a:r>
              <a:rPr lang="en-US" sz="2124" spc="8">
                <a:solidFill>
                  <a:srgbClr val="365B6D"/>
                </a:solidFill>
                <a:latin typeface="Barlow"/>
                <a:ea typeface="Barlow"/>
                <a:cs typeface="Barlow"/>
                <a:sym typeface="Barlow"/>
              </a:rPr>
              <a:t>A drug moving from Tier 3 → Tier 6 can mean hundreds of dollars per refill</a:t>
            </a:r>
          </a:p>
          <a:p>
            <a:pPr algn="l" marL="320476" indent="-160238" lvl="1">
              <a:lnSpc>
                <a:spcPts val="3374"/>
              </a:lnSpc>
              <a:buFont typeface="Arial"/>
              <a:buChar char="•"/>
            </a:pPr>
            <a:r>
              <a:rPr lang="en-US" sz="2124" spc="8">
                <a:solidFill>
                  <a:srgbClr val="365B6D"/>
                </a:solidFill>
                <a:latin typeface="Barlow"/>
                <a:ea typeface="Barlow"/>
                <a:cs typeface="Barlow"/>
                <a:sym typeface="Barlow"/>
              </a:rPr>
              <a:t>Early detection gives patients and providers time to respond before the next fill</a:t>
            </a:r>
          </a:p>
          <a:p>
            <a:pPr algn="l" marL="320476" indent="-160238" lvl="1">
              <a:lnSpc>
                <a:spcPts val="3374"/>
              </a:lnSpc>
              <a:buFont typeface="Arial"/>
              <a:buChar char="•"/>
            </a:pPr>
            <a:r>
              <a:rPr lang="en-US" sz="2124" spc="8">
                <a:solidFill>
                  <a:srgbClr val="365B6D"/>
                </a:solidFill>
                <a:latin typeface="Barlow"/>
                <a:ea typeface="Barlow"/>
                <a:cs typeface="Barlow"/>
                <a:sym typeface="Barlow"/>
              </a:rPr>
              <a:t>To avoid unexpected medication costs</a:t>
            </a:r>
          </a:p>
        </p:txBody>
      </p:sp>
      <p:grpSp>
        <p:nvGrpSpPr>
          <p:cNvPr name="Group 6" id="6"/>
          <p:cNvGrpSpPr/>
          <p:nvPr/>
        </p:nvGrpSpPr>
        <p:grpSpPr>
          <a:xfrm rot="0">
            <a:off x="9288809" y="3084614"/>
            <a:ext cx="8255946" cy="5414810"/>
            <a:chOff x="0" y="0"/>
            <a:chExt cx="11007928" cy="7219747"/>
          </a:xfrm>
        </p:grpSpPr>
        <p:sp>
          <p:nvSpPr>
            <p:cNvPr name="Freeform 7" id="7"/>
            <p:cNvSpPr/>
            <p:nvPr/>
          </p:nvSpPr>
          <p:spPr>
            <a:xfrm flipH="false" flipV="false" rot="0">
              <a:off x="0" y="0"/>
              <a:ext cx="11007851" cy="7219696"/>
            </a:xfrm>
            <a:custGeom>
              <a:avLst/>
              <a:gdLst/>
              <a:ahLst/>
              <a:cxnLst/>
              <a:rect r="r" b="b" t="t" l="l"/>
              <a:pathLst>
                <a:path h="7219696" w="11007851">
                  <a:moveTo>
                    <a:pt x="0" y="259969"/>
                  </a:moveTo>
                  <a:cubicBezTo>
                    <a:pt x="0" y="116459"/>
                    <a:pt x="116459" y="0"/>
                    <a:pt x="259969" y="0"/>
                  </a:cubicBezTo>
                  <a:lnTo>
                    <a:pt x="10747883" y="0"/>
                  </a:lnTo>
                  <a:cubicBezTo>
                    <a:pt x="10891520" y="0"/>
                    <a:pt x="11007851" y="116459"/>
                    <a:pt x="11007851" y="259969"/>
                  </a:cubicBezTo>
                  <a:lnTo>
                    <a:pt x="11007851" y="6959727"/>
                  </a:lnTo>
                  <a:cubicBezTo>
                    <a:pt x="11007851" y="7103364"/>
                    <a:pt x="10891393" y="7219696"/>
                    <a:pt x="10747883" y="7219696"/>
                  </a:cubicBezTo>
                  <a:lnTo>
                    <a:pt x="259969" y="7219696"/>
                  </a:lnTo>
                  <a:cubicBezTo>
                    <a:pt x="116459" y="7219696"/>
                    <a:pt x="0" y="7103364"/>
                    <a:pt x="0" y="6959727"/>
                  </a:cubicBezTo>
                  <a:close/>
                </a:path>
              </a:pathLst>
            </a:custGeom>
            <a:solidFill>
              <a:srgbClr val="1D4355"/>
            </a:solidFill>
          </p:spPr>
        </p:sp>
      </p:grpSp>
      <p:sp>
        <p:nvSpPr>
          <p:cNvPr name="TextBox 8" id="8"/>
          <p:cNvSpPr txBox="true"/>
          <p:nvPr/>
        </p:nvSpPr>
        <p:spPr>
          <a:xfrm rot="0">
            <a:off x="9559528" y="3326759"/>
            <a:ext cx="3510186" cy="441325"/>
          </a:xfrm>
          <a:prstGeom prst="rect">
            <a:avLst/>
          </a:prstGeom>
        </p:spPr>
        <p:txBody>
          <a:bodyPr anchor="t" rtlCol="false" tIns="0" lIns="0" bIns="0" rIns="0">
            <a:spAutoFit/>
          </a:bodyPr>
          <a:lstStyle/>
          <a:p>
            <a:pPr algn="l">
              <a:lnSpc>
                <a:spcPts val="3500"/>
              </a:lnSpc>
            </a:pPr>
            <a:r>
              <a:rPr lang="en-US" b="true" sz="2750" u="sng">
                <a:solidFill>
                  <a:srgbClr val="F7F7F7"/>
                </a:solidFill>
                <a:latin typeface="Barlow Semi-Bold"/>
                <a:ea typeface="Barlow Semi-Bold"/>
                <a:cs typeface="Barlow Semi-Bold"/>
                <a:sym typeface="Barlow Semi-Bold"/>
              </a:rPr>
              <a:t>Example API Response</a:t>
            </a:r>
          </a:p>
        </p:txBody>
      </p:sp>
      <p:sp>
        <p:nvSpPr>
          <p:cNvPr name="TextBox 9" id="9"/>
          <p:cNvSpPr txBox="true"/>
          <p:nvPr/>
        </p:nvSpPr>
        <p:spPr>
          <a:xfrm rot="0">
            <a:off x="9559528" y="4672165"/>
            <a:ext cx="7714507" cy="390525"/>
          </a:xfrm>
          <a:prstGeom prst="rect">
            <a:avLst/>
          </a:prstGeom>
        </p:spPr>
        <p:txBody>
          <a:bodyPr anchor="t" rtlCol="false" tIns="0" lIns="0" bIns="0" rIns="0">
            <a:spAutoFit/>
          </a:bodyPr>
          <a:lstStyle/>
          <a:p>
            <a:pPr algn="l">
              <a:lnSpc>
                <a:spcPts val="3374"/>
              </a:lnSpc>
            </a:pPr>
            <a:r>
              <a:rPr lang="en-US" sz="2124" spc="8">
                <a:solidFill>
                  <a:srgbClr val="F7F7F7"/>
                </a:solidFill>
                <a:latin typeface="Barlow"/>
                <a:ea typeface="Barlow"/>
                <a:cs typeface="Barlow"/>
                <a:sym typeface="Barlow"/>
              </a:rPr>
              <a:t>rxcui: 617314</a:t>
            </a:r>
          </a:p>
        </p:txBody>
      </p:sp>
      <p:sp>
        <p:nvSpPr>
          <p:cNvPr name="TextBox 10" id="10"/>
          <p:cNvSpPr txBox="true"/>
          <p:nvPr/>
        </p:nvSpPr>
        <p:spPr>
          <a:xfrm rot="0">
            <a:off x="9559528" y="5349183"/>
            <a:ext cx="7714507" cy="390525"/>
          </a:xfrm>
          <a:prstGeom prst="rect">
            <a:avLst/>
          </a:prstGeom>
        </p:spPr>
        <p:txBody>
          <a:bodyPr anchor="t" rtlCol="false" tIns="0" lIns="0" bIns="0" rIns="0">
            <a:spAutoFit/>
          </a:bodyPr>
          <a:lstStyle/>
          <a:p>
            <a:pPr algn="l">
              <a:lnSpc>
                <a:spcPts val="3374"/>
              </a:lnSpc>
            </a:pPr>
            <a:r>
              <a:rPr lang="en-US" sz="2124" spc="8">
                <a:solidFill>
                  <a:srgbClr val="F7F7F7"/>
                </a:solidFill>
                <a:latin typeface="Barlow"/>
                <a:ea typeface="Barlow"/>
                <a:cs typeface="Barlow"/>
                <a:sym typeface="Barlow"/>
              </a:rPr>
              <a:t>old_tier: 2 → new_tier: 4</a:t>
            </a:r>
          </a:p>
        </p:txBody>
      </p:sp>
      <p:sp>
        <p:nvSpPr>
          <p:cNvPr name="TextBox 11" id="11"/>
          <p:cNvSpPr txBox="true"/>
          <p:nvPr/>
        </p:nvSpPr>
        <p:spPr>
          <a:xfrm rot="0">
            <a:off x="9559528" y="6026201"/>
            <a:ext cx="7714507" cy="390525"/>
          </a:xfrm>
          <a:prstGeom prst="rect">
            <a:avLst/>
          </a:prstGeom>
        </p:spPr>
        <p:txBody>
          <a:bodyPr anchor="t" rtlCol="false" tIns="0" lIns="0" bIns="0" rIns="0">
            <a:spAutoFit/>
          </a:bodyPr>
          <a:lstStyle/>
          <a:p>
            <a:pPr algn="l">
              <a:lnSpc>
                <a:spcPts val="3374"/>
              </a:lnSpc>
            </a:pPr>
            <a:r>
              <a:rPr lang="en-US" sz="2124" spc="8">
                <a:solidFill>
                  <a:srgbClr val="F7F7F7"/>
                </a:solidFill>
                <a:latin typeface="Barlow"/>
                <a:ea typeface="Barlow"/>
                <a:cs typeface="Barlow"/>
                <a:sym typeface="Barlow"/>
              </a:rPr>
              <a:t>dates: 2025-01-01 to 2025-04-01</a:t>
            </a:r>
          </a:p>
        </p:txBody>
      </p:sp>
      <p:sp>
        <p:nvSpPr>
          <p:cNvPr name="TextBox 12" id="12"/>
          <p:cNvSpPr txBox="true"/>
          <p:nvPr/>
        </p:nvSpPr>
        <p:spPr>
          <a:xfrm rot="0">
            <a:off x="9559528" y="6703219"/>
            <a:ext cx="7714507" cy="809625"/>
          </a:xfrm>
          <a:prstGeom prst="rect">
            <a:avLst/>
          </a:prstGeom>
        </p:spPr>
        <p:txBody>
          <a:bodyPr anchor="t" rtlCol="false" tIns="0" lIns="0" bIns="0" rIns="0">
            <a:spAutoFit/>
          </a:bodyPr>
          <a:lstStyle/>
          <a:p>
            <a:pPr algn="l">
              <a:lnSpc>
                <a:spcPts val="3374"/>
              </a:lnSpc>
            </a:pPr>
            <a:r>
              <a:rPr lang="en-US" sz="2124" spc="8">
                <a:solidFill>
                  <a:srgbClr val="F7F7F7"/>
                </a:solidFill>
                <a:latin typeface="Barlow"/>
                <a:ea typeface="Barlow"/>
                <a:cs typeface="Barlow"/>
                <a:sym typeface="Barlow"/>
              </a:rPr>
              <a:t>message: Medication moved to a higher tier and may now cost more.</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947890" y="2647950"/>
            <a:ext cx="11624890" cy="882650"/>
          </a:xfrm>
          <a:prstGeom prst="rect">
            <a:avLst/>
          </a:prstGeom>
        </p:spPr>
        <p:txBody>
          <a:bodyPr anchor="t" rtlCol="false" tIns="0" lIns="0" bIns="0" rIns="0">
            <a:spAutoFit/>
          </a:bodyPr>
          <a:lstStyle/>
          <a:p>
            <a:pPr algn="l">
              <a:lnSpc>
                <a:spcPts val="7000"/>
              </a:lnSpc>
            </a:pPr>
            <a:r>
              <a:rPr lang="en-US" b="true" sz="5562">
                <a:solidFill>
                  <a:srgbClr val="6C9286"/>
                </a:solidFill>
                <a:latin typeface="Barlow Bold"/>
                <a:ea typeface="Barlow Bold"/>
                <a:cs typeface="Barlow Bold"/>
                <a:sym typeface="Barlow Bold"/>
              </a:rPr>
              <a:t>Patient Value: Proactive Intervention</a:t>
            </a:r>
          </a:p>
        </p:txBody>
      </p:sp>
      <p:sp>
        <p:nvSpPr>
          <p:cNvPr name="TextBox 3" id="3"/>
          <p:cNvSpPr txBox="true"/>
          <p:nvPr/>
        </p:nvSpPr>
        <p:spPr>
          <a:xfrm rot="0">
            <a:off x="947890" y="4042324"/>
            <a:ext cx="16392230" cy="8096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RxAssist is not just a data comparison tool. When a tier change is detected early enough, patients and care teams can act before the next refill becomes a surprise cost event.</a:t>
            </a:r>
          </a:p>
        </p:txBody>
      </p:sp>
      <p:sp>
        <p:nvSpPr>
          <p:cNvPr name="TextBox 4" id="4"/>
          <p:cNvSpPr txBox="true"/>
          <p:nvPr/>
        </p:nvSpPr>
        <p:spPr>
          <a:xfrm rot="0">
            <a:off x="947890" y="5213747"/>
            <a:ext cx="249138" cy="3905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01</a:t>
            </a:r>
          </a:p>
        </p:txBody>
      </p:sp>
      <p:grpSp>
        <p:nvGrpSpPr>
          <p:cNvPr name="Group 5" id="5"/>
          <p:cNvGrpSpPr/>
          <p:nvPr/>
        </p:nvGrpSpPr>
        <p:grpSpPr>
          <a:xfrm rot="0">
            <a:off x="947890" y="5711876"/>
            <a:ext cx="8060684" cy="38100"/>
            <a:chOff x="0" y="0"/>
            <a:chExt cx="10747578" cy="50800"/>
          </a:xfrm>
        </p:grpSpPr>
        <p:sp>
          <p:nvSpPr>
            <p:cNvPr name="Freeform 6" id="6"/>
            <p:cNvSpPr/>
            <p:nvPr/>
          </p:nvSpPr>
          <p:spPr>
            <a:xfrm flipH="false" flipV="false" rot="0">
              <a:off x="0" y="0"/>
              <a:ext cx="10747629" cy="50800"/>
            </a:xfrm>
            <a:custGeom>
              <a:avLst/>
              <a:gdLst/>
              <a:ahLst/>
              <a:cxnLst/>
              <a:rect r="r" b="b" t="t" l="l"/>
              <a:pathLst>
                <a:path h="50800" w="10747629">
                  <a:moveTo>
                    <a:pt x="0" y="0"/>
                  </a:moveTo>
                  <a:lnTo>
                    <a:pt x="10747629" y="0"/>
                  </a:lnTo>
                  <a:lnTo>
                    <a:pt x="10747629" y="50800"/>
                  </a:lnTo>
                  <a:lnTo>
                    <a:pt x="0" y="50800"/>
                  </a:lnTo>
                  <a:close/>
                </a:path>
              </a:pathLst>
            </a:custGeom>
            <a:solidFill>
              <a:srgbClr val="1D4355"/>
            </a:solidFill>
          </p:spPr>
        </p:sp>
      </p:grpSp>
      <p:sp>
        <p:nvSpPr>
          <p:cNvPr name="TextBox 7" id="7"/>
          <p:cNvSpPr txBox="true"/>
          <p:nvPr/>
        </p:nvSpPr>
        <p:spPr>
          <a:xfrm rot="0">
            <a:off x="947890" y="5894784"/>
            <a:ext cx="2844924" cy="441325"/>
          </a:xfrm>
          <a:prstGeom prst="rect">
            <a:avLst/>
          </a:prstGeom>
        </p:spPr>
        <p:txBody>
          <a:bodyPr anchor="t" rtlCol="false" tIns="0" lIns="0" bIns="0" rIns="0">
            <a:spAutoFit/>
          </a:bodyPr>
          <a:lstStyle/>
          <a:p>
            <a:pPr algn="l">
              <a:lnSpc>
                <a:spcPts val="3500"/>
              </a:lnSpc>
            </a:pPr>
            <a:r>
              <a:rPr lang="en-US" b="true" sz="2750">
                <a:solidFill>
                  <a:srgbClr val="365B6D"/>
                </a:solidFill>
                <a:latin typeface="Barlow Semi-Bold"/>
                <a:ea typeface="Barlow Semi-Bold"/>
                <a:cs typeface="Barlow Semi-Bold"/>
                <a:sym typeface="Barlow Semi-Bold"/>
              </a:rPr>
              <a:t>Detect the Change</a:t>
            </a:r>
          </a:p>
        </p:txBody>
      </p:sp>
      <p:sp>
        <p:nvSpPr>
          <p:cNvPr name="TextBox 8" id="8"/>
          <p:cNvSpPr txBox="true"/>
          <p:nvPr/>
        </p:nvSpPr>
        <p:spPr>
          <a:xfrm rot="0">
            <a:off x="947890" y="6454826"/>
            <a:ext cx="8060684" cy="8096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Tier shift identified across formulary snapshots before the next fill date</a:t>
            </a:r>
          </a:p>
        </p:txBody>
      </p:sp>
      <p:sp>
        <p:nvSpPr>
          <p:cNvPr name="TextBox 9" id="9"/>
          <p:cNvSpPr txBox="true"/>
          <p:nvPr/>
        </p:nvSpPr>
        <p:spPr>
          <a:xfrm rot="0">
            <a:off x="9279284" y="5213747"/>
            <a:ext cx="299293" cy="3905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02</a:t>
            </a:r>
          </a:p>
        </p:txBody>
      </p:sp>
      <p:grpSp>
        <p:nvGrpSpPr>
          <p:cNvPr name="Group 10" id="10"/>
          <p:cNvGrpSpPr/>
          <p:nvPr/>
        </p:nvGrpSpPr>
        <p:grpSpPr>
          <a:xfrm rot="0">
            <a:off x="9279284" y="5711876"/>
            <a:ext cx="8060827" cy="38100"/>
            <a:chOff x="0" y="0"/>
            <a:chExt cx="10747769" cy="50800"/>
          </a:xfrm>
        </p:grpSpPr>
        <p:sp>
          <p:nvSpPr>
            <p:cNvPr name="Freeform 11" id="11"/>
            <p:cNvSpPr/>
            <p:nvPr/>
          </p:nvSpPr>
          <p:spPr>
            <a:xfrm flipH="false" flipV="false" rot="0">
              <a:off x="0" y="0"/>
              <a:ext cx="10747756" cy="50800"/>
            </a:xfrm>
            <a:custGeom>
              <a:avLst/>
              <a:gdLst/>
              <a:ahLst/>
              <a:cxnLst/>
              <a:rect r="r" b="b" t="t" l="l"/>
              <a:pathLst>
                <a:path h="50800" w="10747756">
                  <a:moveTo>
                    <a:pt x="0" y="0"/>
                  </a:moveTo>
                  <a:lnTo>
                    <a:pt x="10747756" y="0"/>
                  </a:lnTo>
                  <a:lnTo>
                    <a:pt x="10747756" y="50800"/>
                  </a:lnTo>
                  <a:lnTo>
                    <a:pt x="0" y="50800"/>
                  </a:lnTo>
                  <a:close/>
                </a:path>
              </a:pathLst>
            </a:custGeom>
            <a:solidFill>
              <a:srgbClr val="1D4355"/>
            </a:solidFill>
          </p:spPr>
        </p:sp>
      </p:grpSp>
      <p:sp>
        <p:nvSpPr>
          <p:cNvPr name="TextBox 12" id="12"/>
          <p:cNvSpPr txBox="true"/>
          <p:nvPr/>
        </p:nvSpPr>
        <p:spPr>
          <a:xfrm rot="0">
            <a:off x="9279284" y="5894784"/>
            <a:ext cx="3313956" cy="441325"/>
          </a:xfrm>
          <a:prstGeom prst="rect">
            <a:avLst/>
          </a:prstGeom>
        </p:spPr>
        <p:txBody>
          <a:bodyPr anchor="t" rtlCol="false" tIns="0" lIns="0" bIns="0" rIns="0">
            <a:spAutoFit/>
          </a:bodyPr>
          <a:lstStyle/>
          <a:p>
            <a:pPr algn="l">
              <a:lnSpc>
                <a:spcPts val="3500"/>
              </a:lnSpc>
            </a:pPr>
            <a:r>
              <a:rPr lang="en-US" b="true" sz="2750">
                <a:solidFill>
                  <a:srgbClr val="365B6D"/>
                </a:solidFill>
                <a:latin typeface="Barlow Semi-Bold"/>
                <a:ea typeface="Barlow Semi-Bold"/>
                <a:cs typeface="Barlow Semi-Bold"/>
                <a:sym typeface="Barlow Semi-Bold"/>
              </a:rPr>
              <a:t>Alert the Care Patient</a:t>
            </a:r>
          </a:p>
        </p:txBody>
      </p:sp>
      <p:sp>
        <p:nvSpPr>
          <p:cNvPr name="TextBox 13" id="13"/>
          <p:cNvSpPr txBox="true"/>
          <p:nvPr/>
        </p:nvSpPr>
        <p:spPr>
          <a:xfrm rot="0">
            <a:off x="9279284" y="6454826"/>
            <a:ext cx="8060827" cy="8096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Patients can be notified via email, context already assembled, no manual lookup needed.</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2F1EC"/>
        </a:solidFill>
      </p:bgPr>
    </p:bg>
    <p:spTree>
      <p:nvGrpSpPr>
        <p:cNvPr id="1" name=""/>
        <p:cNvGrpSpPr/>
        <p:nvPr/>
      </p:nvGrpSpPr>
      <p:grpSpPr>
        <a:xfrm>
          <a:off x="0" y="0"/>
          <a:ext cx="0" cy="0"/>
          <a:chOff x="0" y="0"/>
          <a:chExt cx="0" cy="0"/>
        </a:xfrm>
      </p:grpSpPr>
      <p:sp>
        <p:nvSpPr>
          <p:cNvPr name="TextBox 2" id="2"/>
          <p:cNvSpPr txBox="true"/>
          <p:nvPr/>
        </p:nvSpPr>
        <p:spPr>
          <a:xfrm rot="0">
            <a:off x="947890" y="2270674"/>
            <a:ext cx="4213175" cy="882650"/>
          </a:xfrm>
          <a:prstGeom prst="rect">
            <a:avLst/>
          </a:prstGeom>
        </p:spPr>
        <p:txBody>
          <a:bodyPr anchor="t" rtlCol="false" tIns="0" lIns="0" bIns="0" rIns="0">
            <a:spAutoFit/>
          </a:bodyPr>
          <a:lstStyle/>
          <a:p>
            <a:pPr algn="l">
              <a:lnSpc>
                <a:spcPts val="7000"/>
              </a:lnSpc>
            </a:pPr>
            <a:r>
              <a:rPr lang="en-US" b="true" sz="5562">
                <a:solidFill>
                  <a:srgbClr val="6C9286"/>
                </a:solidFill>
                <a:latin typeface="Barlow Semi-Bold"/>
                <a:ea typeface="Barlow Semi-Bold"/>
                <a:cs typeface="Barlow Semi-Bold"/>
                <a:sym typeface="Barlow Semi-Bold"/>
              </a:rPr>
              <a:t>References – </a:t>
            </a:r>
          </a:p>
        </p:txBody>
      </p:sp>
      <p:sp>
        <p:nvSpPr>
          <p:cNvPr name="TextBox 3" id="3"/>
          <p:cNvSpPr txBox="true"/>
          <p:nvPr/>
        </p:nvSpPr>
        <p:spPr>
          <a:xfrm rot="0">
            <a:off x="947890" y="4092626"/>
            <a:ext cx="16392230" cy="309170"/>
          </a:xfrm>
          <a:prstGeom prst="rect">
            <a:avLst/>
          </a:prstGeom>
        </p:spPr>
        <p:txBody>
          <a:bodyPr anchor="t" rtlCol="false" tIns="0" lIns="0" bIns="0" rIns="0">
            <a:spAutoFit/>
          </a:bodyPr>
          <a:lstStyle/>
          <a:p>
            <a:pPr algn="l">
              <a:lnSpc>
                <a:spcPts val="2620"/>
              </a:lnSpc>
            </a:pPr>
            <a:r>
              <a:rPr lang="en-US" sz="1650" spc="6">
                <a:solidFill>
                  <a:srgbClr val="365B6D"/>
                </a:solidFill>
                <a:latin typeface="Barlow"/>
                <a:ea typeface="Barlow"/>
                <a:cs typeface="Barlow"/>
                <a:sym typeface="Barlow"/>
              </a:rPr>
              <a:t>- </a:t>
            </a:r>
            <a:r>
              <a:rPr lang="en-US" sz="1650" spc="6" u="sng">
                <a:solidFill>
                  <a:srgbClr val="365B6D"/>
                </a:solidFill>
                <a:latin typeface="Barlow"/>
                <a:ea typeface="Barlow"/>
                <a:cs typeface="Barlow"/>
                <a:sym typeface="Barlow"/>
                <a:hlinkClick r:id="rId2" tooltip="https://data.cms.gov/provider-summary-by-type-of-service/medicare-part-d-prescribers/monthly-prescription-drug-plan-formulary-and-pharmacy-network-information"/>
              </a:rPr>
              <a:t>https://data.cms.gov/provider-summary-by-type-of-service/medicare-part-d-prescribers/monthly-prescription-drug-plan-formulary-and-pharmacy-network-information</a:t>
            </a:r>
          </a:p>
        </p:txBody>
      </p:sp>
      <p:sp>
        <p:nvSpPr>
          <p:cNvPr name="TextBox 4" id="4"/>
          <p:cNvSpPr txBox="true"/>
          <p:nvPr/>
        </p:nvSpPr>
        <p:spPr>
          <a:xfrm rot="0">
            <a:off x="947890" y="5254523"/>
            <a:ext cx="16392230" cy="3905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 </a:t>
            </a:r>
            <a:r>
              <a:rPr lang="en-US" sz="2124" spc="8" u="sng">
                <a:solidFill>
                  <a:srgbClr val="365B6D"/>
                </a:solidFill>
                <a:latin typeface="Barlow"/>
                <a:ea typeface="Barlow"/>
                <a:cs typeface="Barlow"/>
                <a:sym typeface="Barlow"/>
                <a:hlinkClick r:id="rId3" tooltip="https://github.com/dariusk/corpora/blob/master/data/medicine/drugs.json"/>
              </a:rPr>
              <a:t>https://github.com/dariusk/corpora/blob/master/data/medicine/drugs.json</a:t>
            </a:r>
          </a:p>
        </p:txBody>
      </p:sp>
      <p:sp>
        <p:nvSpPr>
          <p:cNvPr name="TextBox 5" id="5"/>
          <p:cNvSpPr txBox="true"/>
          <p:nvPr/>
        </p:nvSpPr>
        <p:spPr>
          <a:xfrm rot="0">
            <a:off x="947890" y="5992568"/>
            <a:ext cx="16392230" cy="3905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 </a:t>
            </a:r>
            <a:r>
              <a:rPr lang="en-US" sz="2124" spc="8" u="sng">
                <a:solidFill>
                  <a:srgbClr val="365B6D"/>
                </a:solidFill>
                <a:latin typeface="Barlow"/>
                <a:ea typeface="Barlow"/>
                <a:cs typeface="Barlow"/>
                <a:sym typeface="Barlow"/>
                <a:hlinkClick r:id="rId4" tooltip="https://rxnav.nlm.nih.gov/REST/drugs.json?name=Metformin"/>
              </a:rPr>
              <a:t>https://rxnav.nlm.nih.gov/REST/drugs.json?name=Metformin</a:t>
            </a:r>
          </a:p>
        </p:txBody>
      </p:sp>
      <p:sp>
        <p:nvSpPr>
          <p:cNvPr name="TextBox 6" id="6"/>
          <p:cNvSpPr txBox="true"/>
          <p:nvPr/>
        </p:nvSpPr>
        <p:spPr>
          <a:xfrm rot="0">
            <a:off x="947890" y="6730603"/>
            <a:ext cx="16392230" cy="390525"/>
          </a:xfrm>
          <a:prstGeom prst="rect">
            <a:avLst/>
          </a:prstGeom>
        </p:spPr>
        <p:txBody>
          <a:bodyPr anchor="t" rtlCol="false" tIns="0" lIns="0" bIns="0" rIns="0">
            <a:spAutoFit/>
          </a:bodyPr>
          <a:lstStyle/>
          <a:p>
            <a:pPr algn="l">
              <a:lnSpc>
                <a:spcPts val="3374"/>
              </a:lnSpc>
            </a:pPr>
            <a:r>
              <a:rPr lang="en-US" sz="2124" spc="8">
                <a:solidFill>
                  <a:srgbClr val="365B6D"/>
                </a:solidFill>
                <a:latin typeface="Barlow"/>
                <a:ea typeface="Barlow"/>
                <a:cs typeface="Barlow"/>
                <a:sym typeface="Barlow"/>
              </a:rPr>
              <a:t>- </a:t>
            </a:r>
            <a:r>
              <a:rPr lang="en-US" sz="2124" spc="8" u="sng">
                <a:solidFill>
                  <a:srgbClr val="365B6D"/>
                </a:solidFill>
                <a:latin typeface="Barlow"/>
                <a:ea typeface="Barlow"/>
                <a:cs typeface="Barlow"/>
                <a:sym typeface="Barlow"/>
                <a:hlinkClick r:id="rId5" tooltip="https://rxnav.nlm.nih.gov/REST/rxcui/1592748.json"/>
              </a:rPr>
              <a:t>https://rxnav.nlm.nih.gov/REST/rxcui/1592748.json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DAHHDtb-9vk</dc:identifier>
  <dcterms:modified xsi:type="dcterms:W3CDTF">2011-08-01T06:04:30Z</dcterms:modified>
  <cp:revision>1</cp:revision>
  <dc:title>Non Text Magic Studio Magic Design for Presentations L&amp;P</dc:title>
</cp:coreProperties>
</file>